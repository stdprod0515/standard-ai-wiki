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0"/>
            <a:ext cx="7596178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3897" y="700088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73897" y="270570"/>
            <a:ext cx="2064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330535" y="296466"/>
            <a:ext cx="20395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73897" y="1349639"/>
            <a:ext cx="2793206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spc="3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73897" y="1699682"/>
            <a:ext cx="4975622" cy="11315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7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2025–2026 인공지능</a:t>
            </a:r>
            <a:r>
              <a:rPr lang="en-US" sz="37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37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동향 &amp; 트렌드</a:t>
            </a:r>
            <a:endParaRPr lang="en-US" sz="3750" dirty="0"/>
          </a:p>
        </p:txBody>
      </p:sp>
      <p:sp>
        <p:nvSpPr>
          <p:cNvPr id="9" name="Text 6"/>
          <p:cNvSpPr/>
          <p:nvPr/>
        </p:nvSpPr>
        <p:spPr>
          <a:xfrm>
            <a:off x="773897" y="2945541"/>
            <a:ext cx="3536156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생성형 AI에서 에이전트 AI까지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73897" y="3579549"/>
            <a:ext cx="3587948" cy="214313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산업을 재편하는 지능의 진화에 대한 심층 분석 보고서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3897" y="4429125"/>
            <a:ext cx="7596178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73897" y="4429125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3" name="Text 10"/>
          <p:cNvSpPr/>
          <p:nvPr/>
        </p:nvSpPr>
        <p:spPr>
          <a:xfrm>
            <a:off x="773897" y="4708624"/>
            <a:ext cx="191095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2026. 04 | 보스 (영상 프로덕션 대표)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6909178" y="4725591"/>
            <a:ext cx="1460897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Powered by Deep Research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3897" y="557213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73897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5924" y="233065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73897" y="1000125"/>
            <a:ext cx="268783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33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CONTENTS</a:t>
            </a:r>
            <a:endParaRPr lang="en-US" sz="3300" dirty="0"/>
          </a:p>
        </p:txBody>
      </p:sp>
      <p:sp>
        <p:nvSpPr>
          <p:cNvPr id="8" name="Text 5"/>
          <p:cNvSpPr/>
          <p:nvPr/>
        </p:nvSpPr>
        <p:spPr>
          <a:xfrm>
            <a:off x="3747483" y="1014413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033233" y="1000125"/>
            <a:ext cx="18826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시장 규모 &amp; 투자 폭발적 성장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201640" y="1014413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09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487390" y="1000125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인프라 &amp; 반도체 전쟁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747483" y="1337304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033233" y="1323017"/>
            <a:ext cx="18826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생성형 AI — 대중화의 완성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201640" y="1337304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87390" y="1323017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규제 &amp; 글로벌 거버넌스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747483" y="1660196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033233" y="1645909"/>
            <a:ext cx="188265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에이전트 AI — 자율적 업무 수행의 시대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201640" y="1660196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487390" y="1645909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한국 AI 동향 &amp; 전략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3747483" y="2163105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4033233" y="2148818"/>
            <a:ext cx="18826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멀티모달 AI &amp; 추론 모델의 진화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6201640" y="2163105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487390" y="2148818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윤리 &amp; 신뢰 문제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3747483" y="2485997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4033233" y="2471710"/>
            <a:ext cx="18826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주요 AI 모델 경쟁 구도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6201640" y="2485997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487390" y="2471710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AGI를 향한 카운트다운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3747483" y="2808889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033233" y="2794602"/>
            <a:ext cx="18826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피지컬 AI — 현실 세계로의 확장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201640" y="2808889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487390" y="2794602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2026–2030 AI 미래 전망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747483" y="3131781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4033233" y="3117493"/>
            <a:ext cx="1882657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AI와 산업 혁명 — 5대 핵심 분야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6201640" y="3131781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15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487390" y="3117493"/>
            <a:ext cx="1882685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결론 &amp; 시사점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3747483" y="3454673"/>
            <a:ext cx="1714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00" b="1" dirty="0">
                <a:solidFill>
                  <a:srgbClr val="FFFFFF">
                    <a:alpha val="7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08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033233" y="3440385"/>
            <a:ext cx="1882657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AI와 일자리 — 위협과 기회의 공존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773897" y="457200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773897" y="4572000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0" name="Text 37"/>
          <p:cNvSpPr/>
          <p:nvPr/>
        </p:nvSpPr>
        <p:spPr>
          <a:xfrm>
            <a:off x="773897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8239702" y="4797028"/>
            <a:ext cx="1303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3897" y="557213"/>
            <a:ext cx="7596178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2"/>
          <p:cNvSpPr/>
          <p:nvPr/>
        </p:nvSpPr>
        <p:spPr>
          <a:xfrm>
            <a:off x="773897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39489" y="233065"/>
            <a:ext cx="18305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73897" y="1000125"/>
            <a:ext cx="2658312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글로벌 AI 투자, 단 1년 만에 130% 급증 — $581B 돌파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3897" y="2537427"/>
            <a:ext cx="2658312" cy="1440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AI는 더 이상 기술 트렌드가 아닌 </a:t>
            </a:r>
            <a:r>
              <a:rPr lang="en-US" sz="9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거시경제 변수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로 자리잡았습니다. 2025년 전 세계 기업의 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투자는 전년 대비 130% 급증하며 $581.7억 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달러를 기록했으며, 2026년 1분기에만 $2,420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억 달러가 AI 기업에 유입되었습니다. AI 시장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은 2033년까지 $3.5조 규모로 성장할 전망입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니다.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773897" y="4263200"/>
            <a:ext cx="265831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*출처: GrandViewResearch, OECD, Crunchbase,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875122" y="1000125"/>
            <a:ext cx="20617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글로벌 AI 시장 규모 (2025)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3875122" y="1193006"/>
            <a:ext cx="20617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$391B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6308322" y="1000125"/>
            <a:ext cx="20617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글로벌 AI 시장 전망 (2033)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6308322" y="1193006"/>
            <a:ext cx="20617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$3.5T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3875122" y="1750219"/>
            <a:ext cx="20617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연평균 성장률 (CAGR)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3875122" y="1943100"/>
            <a:ext cx="20617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31.5%</a:t>
            </a:r>
            <a:endParaRPr lang="en-US" sz="2450" dirty="0"/>
          </a:p>
        </p:txBody>
      </p:sp>
      <p:sp>
        <p:nvSpPr>
          <p:cNvPr id="16" name="Text 13"/>
          <p:cNvSpPr/>
          <p:nvPr/>
        </p:nvSpPr>
        <p:spPr>
          <a:xfrm>
            <a:off x="6308322" y="1750219"/>
            <a:ext cx="20617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2025년 AI 기업 투자 유치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6308322" y="1943100"/>
            <a:ext cx="20617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$581.7B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3875122" y="2500313"/>
            <a:ext cx="2061725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벤처캐피털 중 AI 비중 (2025)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875122" y="2693194"/>
            <a:ext cx="206172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61%</a:t>
            </a:r>
            <a:endParaRPr lang="en-US" sz="2450" dirty="0"/>
          </a:p>
        </p:txBody>
      </p:sp>
      <p:sp>
        <p:nvSpPr>
          <p:cNvPr id="20" name="Text 17"/>
          <p:cNvSpPr/>
          <p:nvPr/>
        </p:nvSpPr>
        <p:spPr>
          <a:xfrm>
            <a:off x="6308322" y="2500313"/>
            <a:ext cx="20617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Q1 2026 AI 투자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6308322" y="2693194"/>
            <a:ext cx="206175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$242B</a:t>
            </a:r>
            <a:endParaRPr lang="en-US" sz="2450" dirty="0"/>
          </a:p>
        </p:txBody>
      </p:sp>
      <p:sp>
        <p:nvSpPr>
          <p:cNvPr id="22" name="Text 19"/>
          <p:cNvSpPr/>
          <p:nvPr/>
        </p:nvSpPr>
        <p:spPr>
          <a:xfrm>
            <a:off x="6308322" y="3093244"/>
            <a:ext cx="2061753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전체 VC의 80%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773897" y="457200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73897" y="4572000"/>
            <a:ext cx="7596178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5" name="Text 22"/>
          <p:cNvSpPr/>
          <p:nvPr/>
        </p:nvSpPr>
        <p:spPr>
          <a:xfrm>
            <a:off x="773897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8237916" y="4797028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3897" y="557213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73897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5924" y="233065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73897" y="1000125"/>
            <a:ext cx="7596178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생성형 AI, 전 세계 16억 명이 사용하는 일상 기술이 되다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3897" y="1674484"/>
            <a:ext cx="7596178" cy="32001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세계 인구 6명 중 1명</a:t>
            </a:r>
            <a:r>
              <a:rPr lang="en-US" sz="170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— 2025년 말 기준 생성형 AI 도구 사용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73897" y="2155236"/>
            <a:ext cx="17073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ChatGPT 월간 방문 (2025.12)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046906" y="2137377"/>
            <a:ext cx="38219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5.2B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3897" y="2469561"/>
            <a:ext cx="11269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생성형 AI 시장 규모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80827" y="2451702"/>
            <a:ext cx="4482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$63B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3897" y="2783886"/>
            <a:ext cx="83403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기업 AI 도입률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032619" y="2766027"/>
            <a:ext cx="39647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88%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3897" y="3098211"/>
            <a:ext cx="112692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매일 AI 사용자 비율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755799" y="3080352"/>
            <a:ext cx="673298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35.49%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55406" y="2137377"/>
            <a:ext cx="3514669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리서치 &amp; 질의응답:</a:t>
            </a: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63%의 AI 사용자가 주요 활용 목적으로 </a:t>
            </a: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선택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857722" y="2580289"/>
            <a:ext cx="2014538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텍스트 생성 &amp; 편집:</a:t>
            </a: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50% 이상 활용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57722" y="2830320"/>
            <a:ext cx="30682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코드 생성:</a:t>
            </a: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기술 직군 90%가 업무에 AI 코딩 도구 사용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854708" y="3080352"/>
            <a:ext cx="351536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마케팅 &amp; 세일즈:</a:t>
            </a: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42%의 마케팅/영업 부서가 생성형 AI 정기 </a:t>
            </a: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활용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773897" y="3608989"/>
            <a:ext cx="7596178" cy="537177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19"/>
          <p:cNvSpPr/>
          <p:nvPr/>
        </p:nvSpPr>
        <p:spPr>
          <a:xfrm>
            <a:off x="773897" y="3608989"/>
            <a:ext cx="14288" cy="537177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3" name="Text 20"/>
          <p:cNvSpPr/>
          <p:nvPr/>
        </p:nvSpPr>
        <p:spPr>
          <a:xfrm>
            <a:off x="773897" y="3608989"/>
            <a:ext cx="7596178" cy="537177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생성형 AI는 실험 단계를 완전히 벗어났습니다. ChatGPT는 5일 만에 100만 사용자를 돌파한 이후, 현재 월 52억 방문을 기록하는 글로벌 인프라로 성장했습니다. 기업의 88%가 최소 하나 이상의 AI 기능을 도입한 상황에서, 생성형 AI는 선택이 아닌 필수가 되었습니다.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773897" y="457200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773897" y="4572000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6" name="Text 23"/>
          <p:cNvSpPr/>
          <p:nvPr/>
        </p:nvSpPr>
        <p:spPr>
          <a:xfrm>
            <a:off x="773897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248717" y="4800600"/>
            <a:ext cx="257353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*출처: OpenAI, McKinsey, Statista, Exploding Topics, 2025–2026</a:t>
            </a:r>
            <a:endParaRPr lang="en-US" sz="600" dirty="0"/>
          </a:p>
        </p:txBody>
      </p:sp>
      <p:sp>
        <p:nvSpPr>
          <p:cNvPr id="28" name="Text 25"/>
          <p:cNvSpPr/>
          <p:nvPr/>
        </p:nvSpPr>
        <p:spPr>
          <a:xfrm>
            <a:off x="8234316" y="4797028"/>
            <a:ext cx="135731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3897" y="557213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73897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85924" y="233065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73897" y="1000125"/>
            <a:ext cx="2986478" cy="1002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에이전트 AI: 질문에 답하는 AI에서 스스로 행동하는 AI로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31059" y="2245928"/>
            <a:ext cx="2829316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에이전트 AI란?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31059" y="2530227"/>
            <a:ext cx="27360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에이전트는 LLM에 도구와 루프를 결합해 목표를 설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31059" y="2713090"/>
            <a:ext cx="28217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정하고 단계별로 계획을 세워 외부 시스템과 상호작용하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31059" y="2895953"/>
            <a:ext cx="221813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며 자율적으로 작업을 수행하는 시스템이다.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73897" y="3651935"/>
            <a:ext cx="2986478" cy="69146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773897" y="3651935"/>
            <a:ext cx="2986478" cy="691465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5050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2026년은 에이전트 AI가 실험실을 벗어나 실제 비즈니스 워크플로우의 핵심으로 편입되는 해다. 자율형 에이전트가 기업의 디지털 동료로 자리잡는다.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189000" y="1000125"/>
            <a:ext cx="2047661" cy="635794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274725" y="1085850"/>
            <a:ext cx="18762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$52.6B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4274725" y="1400175"/>
            <a:ext cx="187621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2030년 시장 전망 (CAGR 46.3%)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322386" y="1000125"/>
            <a:ext cx="2047661" cy="635794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8111" y="1085850"/>
            <a:ext cx="18762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40%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408111" y="1400175"/>
            <a:ext cx="187621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2026년 엔터프라이즈 도입률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4189000" y="1707356"/>
            <a:ext cx="2047661" cy="635794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274725" y="1793081"/>
            <a:ext cx="18762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90%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274725" y="2107406"/>
            <a:ext cx="187621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영국 소매업체 탐색 비율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6322386" y="1707356"/>
            <a:ext cx="2047661" cy="635794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08111" y="1793081"/>
            <a:ext cx="187621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MCP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408111" y="2107406"/>
            <a:ext cx="1876211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에이전트-도구 연결 표준화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189000" y="2471738"/>
            <a:ext cx="4181047" cy="25717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에이전트 AI 3대 발전 동인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189000" y="2814638"/>
            <a:ext cx="189309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464034" y="2814638"/>
            <a:ext cx="2100263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추론 능력 향상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464034" y="3012877"/>
            <a:ext cx="210026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추론 특화 모델 등장으로 다단계 계획 수립 가능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89000" y="3248620"/>
            <a:ext cx="223242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4497967" y="3248620"/>
            <a:ext cx="209669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도구 연결 표준화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4497967" y="3446859"/>
            <a:ext cx="209669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MCP 프로토콜로 외부 시스템 연결 마찰 최소화</a:t>
            </a:r>
            <a:endParaRPr lang="en-US" sz="750" dirty="0"/>
          </a:p>
        </p:txBody>
      </p:sp>
      <p:sp>
        <p:nvSpPr>
          <p:cNvPr id="33" name="Text 30"/>
          <p:cNvSpPr/>
          <p:nvPr/>
        </p:nvSpPr>
        <p:spPr>
          <a:xfrm>
            <a:off x="4189000" y="3682603"/>
            <a:ext cx="226814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501539" y="3682603"/>
            <a:ext cx="207883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프레임워크 성숙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501539" y="3880842"/>
            <a:ext cx="20788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LangChain, LlamaIndex 등 프레임워크 안정화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773897" y="4572000"/>
            <a:ext cx="7596178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773897" y="4572000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8" name="Text 35"/>
          <p:cNvSpPr/>
          <p:nvPr/>
        </p:nvSpPr>
        <p:spPr>
          <a:xfrm>
            <a:off x="773897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239702" y="4797028"/>
            <a:ext cx="130373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44261" y="233065"/>
            <a:ext cx="18305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871538"/>
            <a:ext cx="7605722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텍스트를 넘어 — AI가 보고, 듣고, 추론하는 시대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69125" y="1474459"/>
            <a:ext cx="3588534" cy="29646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멀티모달 AI 진화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69125" y="1828074"/>
            <a:ext cx="35885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텍스트, 이미지, 음성, 영상, 코드 등 다양한 데이터 형식을 동시에 처리하고 생성하는 AI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897713" y="2256699"/>
            <a:ext cx="34599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현재 수준: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GPT-5, Gemini 3, Claude 4 — 텍스트·이미지·음성·코드 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통합 처리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897713" y="2656749"/>
            <a:ext cx="31039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2027년 전망: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생성형 AI 솔루션의 40%가 멀티모달 방식 채택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897713" y="2885349"/>
            <a:ext cx="3325416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신규 영역: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생체 신호, 촉각 데이터까지 수용하는 차세대 모델 등장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97713" y="3113949"/>
            <a:ext cx="3068241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물리적 AI: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실시간 시각·청각 처리로 로봇 및 자율주행에 적용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786285" y="1474459"/>
            <a:ext cx="3588562" cy="296466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추론 모델 (Reasoning Model) 혁신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86285" y="1828074"/>
            <a:ext cx="358856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답변을 즉시 생성하는 대신, 중간 단계를 거쳐 "생각"한 후 최종 답변을 도출하는 방식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914872" y="2256699"/>
            <a:ext cx="3459975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RLVR (Reinforcement Learning with Verifiable Rewards):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DeepSeek-R1이 대중화한 훈련 방식으로, 인간 피드백 없이 수학·코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딩 등 검증 가능한 문제로 자동 학습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914872" y="2844273"/>
            <a:ext cx="18609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적응형 추론 (Adaptive Reasoning):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6775819" y="2844273"/>
            <a:ext cx="6215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Gemini 3의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914872" y="3006793"/>
            <a:ext cx="96013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thinking_level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875009" y="3017509"/>
            <a:ext cx="242887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제어처럼, 문제 난이도에 따라 추론 깊이를 동적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914872" y="3188959"/>
            <a:ext cx="48934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으로 조절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914872" y="3401485"/>
            <a:ext cx="34599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최고 성능: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Humanity's Last Exam 벤치마크에서 Gemini 3 Pro가 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37.2% 달성 (2026년 1월 기준)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769125" y="4007644"/>
            <a:ext cx="7605722" cy="47863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769125" y="4007644"/>
            <a:ext cx="28575" cy="478631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5" name="Text 22"/>
          <p:cNvSpPr/>
          <p:nvPr/>
        </p:nvSpPr>
        <p:spPr>
          <a:xfrm>
            <a:off x="983438" y="4150519"/>
            <a:ext cx="717709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5050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멀티모달과 추론 능력의 결합은 AI를 단순 정보 처리 도구에서 복잡한 실세계 문제를 해결하는 파트너로 격상시키고 있습니다.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769125" y="457200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769125" y="4572000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28" name="Text 25"/>
          <p:cNvSpPr/>
          <p:nvPr/>
        </p:nvSpPr>
        <p:spPr>
          <a:xfrm>
            <a:off x="769125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8242688" y="4797028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10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339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"&gt;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769125" y="137517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69125" y="694730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6" name="Text 3"/>
          <p:cNvSpPr/>
          <p:nvPr/>
        </p:nvSpPr>
        <p:spPr>
          <a:xfrm>
            <a:off x="769125" y="354509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90695" y="370582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69125" y="1009055"/>
            <a:ext cx="7605722" cy="3482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프론티어 모델 전쟁 — Gemini 3 vs GPT-5 vs Claude 4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9125" y="1485900"/>
            <a:ext cx="1232408" cy="228600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모델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2001534" y="1485900"/>
            <a:ext cx="1286154" cy="228600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개발사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3287688" y="1485900"/>
            <a:ext cx="1732806" cy="228600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특징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5020494" y="1485900"/>
            <a:ext cx="696878" cy="228600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HLE 점수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769125" y="1714500"/>
            <a:ext cx="1232408" cy="251817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Gemini 3 Pro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2001534" y="1714500"/>
            <a:ext cx="1286154" cy="25181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Google DeepMind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287688" y="1714500"/>
            <a:ext cx="1732806" cy="251817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멀티모달·동적 추론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020494" y="1714500"/>
            <a:ext cx="696878" cy="251817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37.2%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69125" y="1966317"/>
            <a:ext cx="123240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GPT-5.2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2001534" y="1966317"/>
            <a:ext cx="1286154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OpenAI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3287688" y="1966317"/>
            <a:ext cx="1732806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산업 표준·광범위한 생태계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020494" y="1966317"/>
            <a:ext cx="69687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35.4%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69125" y="2214563"/>
            <a:ext cx="123240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Gemini 3 Flash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2001534" y="2214563"/>
            <a:ext cx="1286154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Google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287688" y="2214563"/>
            <a:ext cx="1732806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속도·비용 최적화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5020494" y="2214563"/>
            <a:ext cx="69687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34.7%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69125" y="2462808"/>
            <a:ext cx="123240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Claude Opus 4.5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2001534" y="2462808"/>
            <a:ext cx="1286154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Anthropic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87688" y="2462808"/>
            <a:ext cx="1732806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안전성·코딩 전문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5020494" y="2462808"/>
            <a:ext cx="69687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28.4%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769125" y="2711053"/>
            <a:ext cx="123240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Llama 4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2001534" y="2711053"/>
            <a:ext cx="1286154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Meta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87688" y="2711053"/>
            <a:ext cx="1732806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오픈소스 강자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020494" y="2711053"/>
            <a:ext cx="69687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—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769125" y="2959298"/>
            <a:ext cx="123240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Grok 4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2001534" y="2959298"/>
            <a:ext cx="1286154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xAI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3287688" y="2959298"/>
            <a:ext cx="1732806" cy="248245"/>
          </a:xfrm>
          <a:prstGeom prst="rect">
            <a:avLst/>
          </a:prstGeom>
          <a:noFill/>
          <a:ln/>
        </p:spPr>
        <p:txBody>
          <a:bodyPr wrap="squar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실시간 연동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020494" y="2959298"/>
            <a:ext cx="696878" cy="248245"/>
          </a:xfrm>
          <a:prstGeom prst="rect">
            <a:avLst/>
          </a:prstGeom>
          <a:noFill/>
          <a:ln/>
        </p:spPr>
        <p:txBody>
          <a:bodyPr wrap="none" lIns="85090" tIns="51054" rIns="85090" bIns="51054" rtlCol="0" anchor="ctr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23.9%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803097" y="1485900"/>
            <a:ext cx="2571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폐쇄형 vs 오픈소스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5803097" y="1655564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유료 모델(구글·오픈AI·Anthropic) vs Llama의 오픈소스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5803097" y="1842725"/>
            <a:ext cx="2571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파운데이션 모델 시장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5803097" y="2012389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2025 $106억 → 2026 $120억 (CAGR 13.2%)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5803097" y="2199549"/>
            <a:ext cx="2571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차별화 전략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5803097" y="2369214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특화 도메인(코딩·의료·법률)·에이전트 통합</a:t>
            </a:r>
            <a:endParaRPr lang="en-US" sz="750" dirty="0"/>
          </a:p>
        </p:txBody>
      </p:sp>
      <p:sp>
        <p:nvSpPr>
          <p:cNvPr id="43" name="Text 40"/>
          <p:cNvSpPr/>
          <p:nvPr/>
        </p:nvSpPr>
        <p:spPr>
          <a:xfrm>
            <a:off x="5803097" y="2556374"/>
            <a:ext cx="2571750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한국 모델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5803097" y="2726038"/>
            <a:ext cx="2571750" cy="1300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HyperCLOVA X, KT AI, KoGPT 등 경쟁 심화</a:t>
            </a:r>
            <a:endParaRPr lang="en-US" sz="750" dirty="0"/>
          </a:p>
        </p:txBody>
      </p:sp>
      <p:sp>
        <p:nvSpPr>
          <p:cNvPr id="45" name="Text 42"/>
          <p:cNvSpPr/>
          <p:nvPr/>
        </p:nvSpPr>
        <p:spPr>
          <a:xfrm>
            <a:off x="5803097" y="2913199"/>
            <a:ext cx="2571750" cy="407194"/>
          </a:xfrm>
          <a:prstGeom prst="rect">
            <a:avLst/>
          </a:prstGeom>
          <a:noFill/>
          <a:ln/>
        </p:spPr>
        <p:txBody>
          <a:bodyPr wrap="square" lIns="0" tIns="68072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2026년 AI 경쟁은 벤치마크를 넘어서 에이전트 통합·특화 성능·비용 효율성이 핵심입니다.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69125" y="4709517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769125" y="4709517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8" name="Text 45"/>
          <p:cNvSpPr/>
          <p:nvPr/>
        </p:nvSpPr>
        <p:spPr>
          <a:xfrm>
            <a:off x="769125" y="4934545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49" name="Text 46"/>
          <p:cNvSpPr/>
          <p:nvPr/>
        </p:nvSpPr>
        <p:spPr>
          <a:xfrm>
            <a:off x="4436241" y="4938117"/>
            <a:ext cx="22092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*출처: Artificial Analysis, GlobeNewsWire, Clarifai, 2026</a:t>
            </a:r>
            <a:endParaRPr lang="en-US" sz="600" dirty="0"/>
          </a:p>
        </p:txBody>
      </p:sp>
      <p:sp>
        <p:nvSpPr>
          <p:cNvPr id="50" name="Text 47"/>
          <p:cNvSpPr/>
          <p:nvPr/>
        </p:nvSpPr>
        <p:spPr>
          <a:xfrm>
            <a:off x="8249803" y="4934545"/>
            <a:ext cx="12501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90695" y="233065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942975"/>
            <a:ext cx="2661800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피지컬 AI: 소프트웨어를 벗어나 현실 세계를 움직이다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69125" y="2308827"/>
            <a:ext cx="2661800" cy="82287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피지컬 AI(Physical AI)는 실제 물리적 환경에서 자율적으로 인식하고 판단하며 행동하는 AI 시스템으로, 로봇공학·자율주행·스마트 제조 등에 적용됩니다.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9125" y="3260285"/>
            <a:ext cx="2661800" cy="93147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Text 7"/>
          <p:cNvSpPr/>
          <p:nvPr/>
        </p:nvSpPr>
        <p:spPr>
          <a:xfrm>
            <a:off x="769125" y="3260285"/>
            <a:ext cx="2661800" cy="931478"/>
          </a:xfrm>
          <a:prstGeom prst="rect">
            <a:avLst/>
          </a:prstGeom>
          <a:noFill/>
          <a:ln/>
        </p:spPr>
        <p:txBody>
          <a:bodyPr wrap="square" lIns="119126" tIns="119126" rIns="119126" bIns="119126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피지컬 AI는 2026년 가장 빠르게 성장하는 AI 응용 분야입니다. 소프트웨어 AI가 디지털 세계를 변혁했다면, 피지컬 AI는 제조·물류·의료·건설 등 실물 경제의 패러다임을 바꾸고 있습니다.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9125" y="4371975"/>
            <a:ext cx="266180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*출처: McKinsey, Accenture, Manufacturing Dive, 2025–2026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3716675" y="942975"/>
            <a:ext cx="428625" cy="42862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832" y="1071563"/>
            <a:ext cx="214313" cy="1714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88175" y="942975"/>
            <a:ext cx="408667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 휴머노이드 로봇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288175" y="1260872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CES 2026의 핵심 키워드로 부상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4288175" y="1475184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Tesla Optimus, Figure AI, Boston Dynamics 등 경쟁 심화</a:t>
            </a:r>
            <a:endParaRPr lang="en-US" sz="850" dirty="0"/>
          </a:p>
        </p:txBody>
      </p:sp>
      <p:sp>
        <p:nvSpPr>
          <p:cNvPr id="17" name="Text 13"/>
          <p:cNvSpPr/>
          <p:nvPr/>
        </p:nvSpPr>
        <p:spPr>
          <a:xfrm>
            <a:off x="4288175" y="1689497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2035년까지 1억 4,500만 대의 자율 기계 도입 전망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288175" y="1260872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288175" y="1475184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20" name="Text 16"/>
          <p:cNvSpPr/>
          <p:nvPr/>
        </p:nvSpPr>
        <p:spPr>
          <a:xfrm>
            <a:off x="4288175" y="1689497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3716675" y="2082403"/>
            <a:ext cx="428625" cy="42862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3832" y="2210991"/>
            <a:ext cx="214313" cy="17145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288175" y="2082403"/>
            <a:ext cx="408667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2. 자율주행 자동차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288175" y="2400300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2035년까지 $3,000억~$4,000억 글로벌 매출 전망 (McKinsey)</a:t>
            </a:r>
            <a:endParaRPr lang="en-US" sz="850" dirty="0"/>
          </a:p>
        </p:txBody>
      </p:sp>
      <p:sp>
        <p:nvSpPr>
          <p:cNvPr id="25" name="Text 20"/>
          <p:cNvSpPr/>
          <p:nvPr/>
        </p:nvSpPr>
        <p:spPr>
          <a:xfrm>
            <a:off x="4288175" y="2614613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Waymo, Tesla FSD, 현대차 자율주행 기술 고도화</a:t>
            </a:r>
            <a:endParaRPr lang="en-US" sz="850" dirty="0"/>
          </a:p>
        </p:txBody>
      </p:sp>
      <p:sp>
        <p:nvSpPr>
          <p:cNvPr id="26" name="Text 21"/>
          <p:cNvSpPr/>
          <p:nvPr/>
        </p:nvSpPr>
        <p:spPr>
          <a:xfrm>
            <a:off x="4288175" y="2828925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피지컬 AI 시장 2035년까지 $1조 규모 성장 전망</a:t>
            </a:r>
            <a:endParaRPr lang="en-US" sz="850" dirty="0"/>
          </a:p>
        </p:txBody>
      </p:sp>
      <p:sp>
        <p:nvSpPr>
          <p:cNvPr id="27" name="Text 22"/>
          <p:cNvSpPr/>
          <p:nvPr/>
        </p:nvSpPr>
        <p:spPr>
          <a:xfrm>
            <a:off x="4288175" y="2400300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4288175" y="2614613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29" name="Text 24"/>
          <p:cNvSpPr/>
          <p:nvPr/>
        </p:nvSpPr>
        <p:spPr>
          <a:xfrm>
            <a:off x="4288175" y="2828925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30" name="Shape 25"/>
          <p:cNvSpPr/>
          <p:nvPr/>
        </p:nvSpPr>
        <p:spPr>
          <a:xfrm>
            <a:off x="3716675" y="3221831"/>
            <a:ext cx="428625" cy="428625"/>
          </a:xfrm>
          <a:prstGeom prst="rect">
            <a:avLst/>
          </a:prstGeom>
          <a:solidFill>
            <a:srgbClr val="333333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547" y="3350419"/>
            <a:ext cx="192881" cy="17145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288175" y="3221831"/>
            <a:ext cx="4086671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3. 스마트 제조 &amp; 산업 자동화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4288175" y="3539728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기반 제조업 부가가치: 2035년까지 $3.78조 (Accenture)</a:t>
            </a:r>
            <a:endParaRPr lang="en-US" sz="850" dirty="0"/>
          </a:p>
        </p:txBody>
      </p:sp>
      <p:sp>
        <p:nvSpPr>
          <p:cNvPr id="34" name="Text 28"/>
          <p:cNvSpPr/>
          <p:nvPr/>
        </p:nvSpPr>
        <p:spPr>
          <a:xfrm>
            <a:off x="4288175" y="3754041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산업용 로봇에 AI 추론 능력 내장 가속화</a:t>
            </a:r>
            <a:endParaRPr lang="en-US" sz="850" dirty="0"/>
          </a:p>
        </p:txBody>
      </p:sp>
      <p:sp>
        <p:nvSpPr>
          <p:cNvPr id="35" name="Text 29"/>
          <p:cNvSpPr/>
          <p:nvPr/>
        </p:nvSpPr>
        <p:spPr>
          <a:xfrm>
            <a:off x="4288175" y="3968353"/>
            <a:ext cx="4086671" cy="171450"/>
          </a:xfrm>
          <a:prstGeom prst="rect">
            <a:avLst/>
          </a:prstGeom>
          <a:noFill/>
          <a:ln/>
        </p:spPr>
        <p:txBody>
          <a:bodyPr wrap="none" lIns="136017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디지털 트윈 + AI 시뮬레이션으로 설계·생산 최적화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769125" y="457200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7" name="Shape 31"/>
          <p:cNvSpPr/>
          <p:nvPr/>
        </p:nvSpPr>
        <p:spPr>
          <a:xfrm>
            <a:off x="769125" y="4572000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8" name="Text 32"/>
          <p:cNvSpPr/>
          <p:nvPr/>
        </p:nvSpPr>
        <p:spPr>
          <a:xfrm>
            <a:off x="4288175" y="3539728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39" name="Text 33"/>
          <p:cNvSpPr/>
          <p:nvPr/>
        </p:nvSpPr>
        <p:spPr>
          <a:xfrm>
            <a:off x="4288175" y="3754041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4288175" y="3968353"/>
            <a:ext cx="535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•</a:t>
            </a:r>
            <a:endParaRPr lang="en-US" sz="800" dirty="0"/>
          </a:p>
        </p:txBody>
      </p:sp>
      <p:sp>
        <p:nvSpPr>
          <p:cNvPr id="41" name="Text 35"/>
          <p:cNvSpPr/>
          <p:nvPr/>
        </p:nvSpPr>
        <p:spPr>
          <a:xfrm>
            <a:off x="769125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42" name="Text 36"/>
          <p:cNvSpPr/>
          <p:nvPr/>
        </p:nvSpPr>
        <p:spPr>
          <a:xfrm>
            <a:off x="8242688" y="4797028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44261" y="233065"/>
            <a:ext cx="18305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871538"/>
            <a:ext cx="7605722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AI가 가장 빠르게 바꾸는 5개 산업 — $15.7조 경제 가치 창출</a:t>
            </a:r>
            <a:endParaRPr lang="en-US" sz="2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125" y="2084524"/>
            <a:ext cx="257175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69125" y="2454213"/>
            <a:ext cx="14068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의료 &amp; 바이오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69125" y="2782825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신약 개발 기간 50% 단축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769125" y="2989994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의료 영상 진단 정확도 향상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769125" y="3197163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개인 맞춤형 치료 계획 수립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769125" y="2782825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769125" y="2989994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769125" y="3197163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8845" y="2084524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318845" y="2454213"/>
            <a:ext cx="14068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금융 &amp; 핀테크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2318845" y="2782825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실시간 사기 탐지 시스템</a:t>
            </a:r>
            <a:endParaRPr lang="en-US" sz="750" dirty="0"/>
          </a:p>
        </p:txBody>
      </p:sp>
      <p:sp>
        <p:nvSpPr>
          <p:cNvPr id="19" name="Text 14"/>
          <p:cNvSpPr/>
          <p:nvPr/>
        </p:nvSpPr>
        <p:spPr>
          <a:xfrm>
            <a:off x="2318845" y="2989994"/>
            <a:ext cx="1406844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초개인화 자산 관리 (Robo-advisor)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2318845" y="3347182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알고리즘 트레이딩 고도화</a:t>
            </a:r>
            <a:endParaRPr lang="en-US" sz="750" dirty="0"/>
          </a:p>
        </p:txBody>
      </p:sp>
      <p:sp>
        <p:nvSpPr>
          <p:cNvPr id="21" name="Text 16"/>
          <p:cNvSpPr/>
          <p:nvPr/>
        </p:nvSpPr>
        <p:spPr>
          <a:xfrm>
            <a:off x="2318845" y="2782825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22" name="Text 17"/>
          <p:cNvSpPr/>
          <p:nvPr/>
        </p:nvSpPr>
        <p:spPr>
          <a:xfrm>
            <a:off x="2318845" y="2989994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23" name="Text 18"/>
          <p:cNvSpPr/>
          <p:nvPr/>
        </p:nvSpPr>
        <p:spPr>
          <a:xfrm>
            <a:off x="2318845" y="3347182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8564" y="2084524"/>
            <a:ext cx="285750" cy="2286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868564" y="2454213"/>
            <a:ext cx="14068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소프트웨어 &amp; IT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3868564" y="2782825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코딩 어시스턴트 도입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3868564" y="2989994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개발 생산성 40% 이상 향상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3868564" y="3197163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자동화된 버그 탐지 및 수정</a:t>
            </a:r>
            <a:endParaRPr lang="en-US" sz="750" dirty="0"/>
          </a:p>
        </p:txBody>
      </p:sp>
      <p:sp>
        <p:nvSpPr>
          <p:cNvPr id="29" name="Text 23"/>
          <p:cNvSpPr/>
          <p:nvPr/>
        </p:nvSpPr>
        <p:spPr>
          <a:xfrm>
            <a:off x="3868564" y="2782825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30" name="Text 24"/>
          <p:cNvSpPr/>
          <p:nvPr/>
        </p:nvSpPr>
        <p:spPr>
          <a:xfrm>
            <a:off x="3868564" y="2989994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3868564" y="3197163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8283" y="2084524"/>
            <a:ext cx="228600" cy="2286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418283" y="2454213"/>
            <a:ext cx="14068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마케팅 &amp; 미디어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5418283" y="2782825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초개인화 콘텐츠 자동 생성</a:t>
            </a:r>
            <a:endParaRPr lang="en-US" sz="750" dirty="0"/>
          </a:p>
        </p:txBody>
      </p:sp>
      <p:sp>
        <p:nvSpPr>
          <p:cNvPr id="35" name="Text 28"/>
          <p:cNvSpPr/>
          <p:nvPr/>
        </p:nvSpPr>
        <p:spPr>
          <a:xfrm>
            <a:off x="5418283" y="2989994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광고 타겟팅 ROI 극대화</a:t>
            </a:r>
            <a:endParaRPr lang="en-US" sz="750" dirty="0"/>
          </a:p>
        </p:txBody>
      </p:sp>
      <p:sp>
        <p:nvSpPr>
          <p:cNvPr id="36" name="Text 29"/>
          <p:cNvSpPr/>
          <p:nvPr/>
        </p:nvSpPr>
        <p:spPr>
          <a:xfrm>
            <a:off x="5418283" y="3197163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고객 데이터 실시간 분석</a:t>
            </a:r>
            <a:endParaRPr lang="en-US" sz="750" dirty="0"/>
          </a:p>
        </p:txBody>
      </p:sp>
      <p:sp>
        <p:nvSpPr>
          <p:cNvPr id="37" name="Text 30"/>
          <p:cNvSpPr/>
          <p:nvPr/>
        </p:nvSpPr>
        <p:spPr>
          <a:xfrm>
            <a:off x="5418283" y="2782825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5418283" y="2989994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5418283" y="3197163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8003" y="2084524"/>
            <a:ext cx="200025" cy="22860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968003" y="2454213"/>
            <a:ext cx="1406844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과학 연구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968003" y="2782825"/>
            <a:ext cx="1406844" cy="300038"/>
          </a:xfrm>
          <a:prstGeom prst="rect">
            <a:avLst/>
          </a:prstGeom>
          <a:noFill/>
          <a:ln/>
        </p:spPr>
        <p:txBody>
          <a:bodyPr wrap="squar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단백질 구조 예측 (AlphaFold)</a:t>
            </a:r>
            <a:endParaRPr lang="en-US" sz="750" dirty="0"/>
          </a:p>
        </p:txBody>
      </p:sp>
      <p:sp>
        <p:nvSpPr>
          <p:cNvPr id="43" name="Text 35"/>
          <p:cNvSpPr/>
          <p:nvPr/>
        </p:nvSpPr>
        <p:spPr>
          <a:xfrm>
            <a:off x="6968003" y="3140013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신소재 및 배터리 물질 발견</a:t>
            </a:r>
            <a:endParaRPr lang="en-US" sz="750" dirty="0"/>
          </a:p>
        </p:txBody>
      </p:sp>
      <p:sp>
        <p:nvSpPr>
          <p:cNvPr id="44" name="Text 36"/>
          <p:cNvSpPr/>
          <p:nvPr/>
        </p:nvSpPr>
        <p:spPr>
          <a:xfrm>
            <a:off x="6968003" y="3347182"/>
            <a:ext cx="1406844" cy="150019"/>
          </a:xfrm>
          <a:prstGeom prst="rect">
            <a:avLst/>
          </a:prstGeom>
          <a:noFill/>
          <a:ln/>
        </p:spPr>
        <p:txBody>
          <a:bodyPr wrap="none" lIns="102108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기후 변화 모델링 시뮬레이션</a:t>
            </a:r>
            <a:endParaRPr lang="en-US" sz="750" dirty="0"/>
          </a:p>
        </p:txBody>
      </p:sp>
      <p:sp>
        <p:nvSpPr>
          <p:cNvPr id="45" name="Shape 37"/>
          <p:cNvSpPr/>
          <p:nvPr/>
        </p:nvSpPr>
        <p:spPr>
          <a:xfrm>
            <a:off x="769125" y="3829050"/>
            <a:ext cx="7605722" cy="5715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6" name="Shape 38"/>
          <p:cNvSpPr/>
          <p:nvPr/>
        </p:nvSpPr>
        <p:spPr>
          <a:xfrm>
            <a:off x="769125" y="3829050"/>
            <a:ext cx="28575" cy="5715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47" name="Text 39"/>
          <p:cNvSpPr/>
          <p:nvPr/>
        </p:nvSpPr>
        <p:spPr>
          <a:xfrm>
            <a:off x="6968003" y="2782825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48" name="Text 40"/>
          <p:cNvSpPr/>
          <p:nvPr/>
        </p:nvSpPr>
        <p:spPr>
          <a:xfrm>
            <a:off x="6968003" y="3140013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49" name="Text 41"/>
          <p:cNvSpPr/>
          <p:nvPr/>
        </p:nvSpPr>
        <p:spPr>
          <a:xfrm>
            <a:off x="6968003" y="3347182"/>
            <a:ext cx="4643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-</a:t>
            </a:r>
            <a:endParaRPr lang="en-US" sz="700" dirty="0"/>
          </a:p>
        </p:txBody>
      </p:sp>
      <p:sp>
        <p:nvSpPr>
          <p:cNvPr id="50" name="Text 42"/>
          <p:cNvSpPr/>
          <p:nvPr/>
        </p:nvSpPr>
        <p:spPr>
          <a:xfrm>
            <a:off x="940575" y="3943350"/>
            <a:ext cx="726282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5050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PwC에 따르면, AI는 2030년까지 글로벌 경제에 $15.7조 달러의 추가 가치를 창출할 전망이며, 이는 현재 중국과 인도의 경제 규모를 합친 것보다 큰 규모입니다.</a:t>
            </a:r>
            <a:endParaRPr lang="en-US" sz="850" dirty="0"/>
          </a:p>
        </p:txBody>
      </p:sp>
      <p:sp>
        <p:nvSpPr>
          <p:cNvPr id="51" name="Shape 43"/>
          <p:cNvSpPr/>
          <p:nvPr/>
        </p:nvSpPr>
        <p:spPr>
          <a:xfrm>
            <a:off x="769125" y="457200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2" name="Shape 44"/>
          <p:cNvSpPr/>
          <p:nvPr/>
        </p:nvSpPr>
        <p:spPr>
          <a:xfrm>
            <a:off x="769125" y="4572000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3" name="Text 45"/>
          <p:cNvSpPr/>
          <p:nvPr/>
        </p:nvSpPr>
        <p:spPr>
          <a:xfrm>
            <a:off x="769125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54" name="Text 46"/>
          <p:cNvSpPr/>
          <p:nvPr/>
        </p:nvSpPr>
        <p:spPr>
          <a:xfrm>
            <a:off x="8242688" y="4797028"/>
            <a:ext cx="132159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44261" y="233065"/>
            <a:ext cx="18305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871538"/>
            <a:ext cx="7605722" cy="3600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AI, 9,200만 일자리를 대체하고 1억 7,000만 개를 창출한다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69125" y="1574471"/>
            <a:ext cx="3702834" cy="2254579"/>
          </a:xfrm>
          <a:prstGeom prst="rect">
            <a:avLst/>
          </a:prstGeom>
          <a:solidFill>
            <a:srgbClr val="FAFAFA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850" y="1747707"/>
            <a:ext cx="72687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대체 위협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67452" y="1660196"/>
            <a:ext cx="1012627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9,200만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54850" y="2165617"/>
            <a:ext cx="3531384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단순 반복 및 규칙 기반의 업무 소멸 가속화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854850" y="2406718"/>
            <a:ext cx="1722816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사무 및 행정 지원: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데이터 입력, 문서 작성, 일정 관리 등 기초 행정 업무의 70% 자동화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663391" y="2406718"/>
            <a:ext cx="1722844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고객 서비스: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1차 콜센터 및 단순 질의응답 챗봇으로 완전 대체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854850" y="2978218"/>
            <a:ext cx="1722816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기초 번역 및 교정: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초벌 번역 및 단순 문법 교정 시장 축소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63391" y="2978218"/>
            <a:ext cx="1722844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단순 데이터 분석: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정형 데이터 기반의 기초 보고서 작성 자동화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671985" y="1574471"/>
            <a:ext cx="3702862" cy="2254579"/>
          </a:xfrm>
          <a:prstGeom prst="rect">
            <a:avLst/>
          </a:prstGeom>
          <a:solidFill>
            <a:srgbClr val="FAFAFA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54850" y="24495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2663391" y="24495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854850" y="30210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2663391" y="30210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4757710" y="1747707"/>
            <a:ext cx="726877" cy="23217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창출 기회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570311" y="1660196"/>
            <a:ext cx="596503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1.7억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4757710" y="2165617"/>
            <a:ext cx="3531412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관리, 고차원 추론, 인간 중심의 새로운 직업군 부상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757710" y="2406718"/>
            <a:ext cx="1722844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프롬프트 엔지니어 &amp; 최적화 전문가: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AI 모델의 성능을 극대화하는 지시어 설계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566278" y="2406718"/>
            <a:ext cx="1722844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윤리 및 거버넌스 관리자: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편향성 검증, 규제 준수, 데이터 프라이버시 감독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4757710" y="2978218"/>
            <a:ext cx="1722844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데이터 큐레이터: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고품질 학습 데이터 선별 및 도메인 특화 데이터 구축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6566278" y="2978218"/>
            <a:ext cx="1722844" cy="514350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로봇 및 AI 시스템 유지보수: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피지컬 AI 및 자동화 인프라 관리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769125" y="3914775"/>
            <a:ext cx="7605722" cy="500063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9" name="Text 26"/>
          <p:cNvSpPr/>
          <p:nvPr/>
        </p:nvSpPr>
        <p:spPr>
          <a:xfrm>
            <a:off x="4757710" y="24495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30" name="Text 27"/>
          <p:cNvSpPr/>
          <p:nvPr/>
        </p:nvSpPr>
        <p:spPr>
          <a:xfrm>
            <a:off x="6566278" y="24495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31" name="Text 28"/>
          <p:cNvSpPr/>
          <p:nvPr/>
        </p:nvSpPr>
        <p:spPr>
          <a:xfrm>
            <a:off x="4757710" y="30210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32" name="Text 29"/>
          <p:cNvSpPr/>
          <p:nvPr/>
        </p:nvSpPr>
        <p:spPr>
          <a:xfrm>
            <a:off x="6566278" y="3021081"/>
            <a:ext cx="43169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" dirty="0">
                <a:solidFill>
                  <a:srgbClr val="05050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■</a:t>
            </a:r>
            <a:endParaRPr lang="en-US" sz="500" dirty="0"/>
          </a:p>
        </p:txBody>
      </p:sp>
      <p:sp>
        <p:nvSpPr>
          <p:cNvPr id="33" name="Text 30"/>
          <p:cNvSpPr/>
          <p:nvPr/>
        </p:nvSpPr>
        <p:spPr>
          <a:xfrm>
            <a:off x="983438" y="4057650"/>
            <a:ext cx="7177097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"AI가 사람을 대체하는 것이 아니라, AI를 쓰는 사람이 AI를 쓰지 않는 사람을 대체한다."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769125" y="457200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5" name="Shape 32"/>
          <p:cNvSpPr/>
          <p:nvPr/>
        </p:nvSpPr>
        <p:spPr>
          <a:xfrm>
            <a:off x="769125" y="4572000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6" name="Text 33"/>
          <p:cNvSpPr/>
          <p:nvPr/>
        </p:nvSpPr>
        <p:spPr>
          <a:xfrm>
            <a:off x="769125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4486247" y="4800600"/>
            <a:ext cx="212348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*출처: World Economic Forum, Goldman Sachs, 2025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8264091" y="4797028"/>
            <a:ext cx="110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10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13394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"&gt;</a:t>
            </a:r>
            <a:endParaRPr lang="en-US" sz="850" dirty="0"/>
          </a:p>
        </p:txBody>
      </p:sp>
      <p:sp>
        <p:nvSpPr>
          <p:cNvPr id="4" name="Shape 1"/>
          <p:cNvSpPr/>
          <p:nvPr/>
        </p:nvSpPr>
        <p:spPr>
          <a:xfrm>
            <a:off x="765553" y="137517"/>
            <a:ext cx="7612866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765553" y="694730"/>
            <a:ext cx="7612866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6" name="Text 3"/>
          <p:cNvSpPr/>
          <p:nvPr/>
        </p:nvSpPr>
        <p:spPr>
          <a:xfrm>
            <a:off x="765553" y="354509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547833" y="370582"/>
            <a:ext cx="18305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765553" y="1037630"/>
            <a:ext cx="2612436" cy="13029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인프라에 $2.9조 투자 — 데이터센터와 반도체가 AI 패권을 결정한다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9853" y="2569183"/>
            <a:ext cx="2498136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$2.9T</a:t>
            </a:r>
            <a:endParaRPr lang="en-US" sz="3300" dirty="0"/>
          </a:p>
        </p:txBody>
      </p:sp>
      <p:sp>
        <p:nvSpPr>
          <p:cNvPr id="10" name="Text 7"/>
          <p:cNvSpPr/>
          <p:nvPr/>
        </p:nvSpPr>
        <p:spPr>
          <a:xfrm>
            <a:off x="879853" y="3083533"/>
            <a:ext cx="2498136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2026년 AI 인프라 누적 투자 전망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765553" y="3324634"/>
            <a:ext cx="2612436" cy="1071479"/>
          </a:xfrm>
          <a:prstGeom prst="rect">
            <a:avLst/>
          </a:prstGeom>
          <a:solidFill>
            <a:srgbClr val="F5F5F5"/>
          </a:solidFill>
          <a:ln w="9144">
            <a:solidFill>
              <a:srgbClr val="E8E8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5553" y="3324634"/>
            <a:ext cx="2612436" cy="1071479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 모델의 성능은 결국 </a:t>
            </a: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컴퓨팅 파워와 전력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에 의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해 결정됩니다. 글로벌 빅테크와 주요 국가들은 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10만 개 이상의 GPU를 연결하는 초대형 'AI 슈퍼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팩토리' 구축에 사활을 걸고 있으며, 이는 새로운 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형태의 국가 인프라 경쟁으로 확전되었습니다.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806614" y="1037630"/>
            <a:ext cx="228600" cy="2286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4" name="Text 11"/>
          <p:cNvSpPr/>
          <p:nvPr/>
        </p:nvSpPr>
        <p:spPr>
          <a:xfrm>
            <a:off x="3806614" y="1037630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49514" y="1045666"/>
            <a:ext cx="1989534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슈퍼팩토리 &amp; 반도체 독립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063789" y="1351955"/>
            <a:ext cx="43146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NVIDIA 독주 속 자체 칩 개발: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Google TPU, AWS Trainium, MS Maia 등 빅테크의 자체 실리콘(ASIC) 비중 확대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4063789" y="1752005"/>
            <a:ext cx="43146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초거대 클러스터: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xAI의 Colossus(10만 H100) 등 단일 데이터센터 규모의 기하급수적 팽창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3949489" y="1351955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949489" y="1752005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806614" y="2330648"/>
            <a:ext cx="228600" cy="2286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1" name="Text 18"/>
          <p:cNvSpPr/>
          <p:nvPr/>
        </p:nvSpPr>
        <p:spPr>
          <a:xfrm>
            <a:off x="3806614" y="2330648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149514" y="2338685"/>
            <a:ext cx="1764506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엣지 AI (Edge AI)의 부상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063789" y="2644973"/>
            <a:ext cx="43146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온디바이스 AI: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클라우드 의존도를 낮추고 스마트폰, PC, 로봇에서 직접 소형 AI 모델(SLM) 구동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063789" y="3045023"/>
            <a:ext cx="43146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핵심 이점: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지연 시간(Latency) 단축, 프라이버시 보호, 막대한 서버 운영 비용 절감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3949489" y="2644973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949489" y="3045023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806614" y="3452217"/>
            <a:ext cx="228600" cy="2286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8" name="Text 25"/>
          <p:cNvSpPr/>
          <p:nvPr/>
        </p:nvSpPr>
        <p:spPr>
          <a:xfrm>
            <a:off x="3806614" y="3452217"/>
            <a:ext cx="22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149514" y="3460254"/>
            <a:ext cx="2155627" cy="212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에너지 도전과 원자력 르네상스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063789" y="3766542"/>
            <a:ext cx="431463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전력망 한계 직면: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AI 검색은 일반 검색 대비 10배 이상의 전력 소모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4063789" y="3995142"/>
            <a:ext cx="431463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빅테크의 원전 투자:</a:t>
            </a:r>
            <a:r>
              <a:rPr lang="en-US" sz="8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MS(스리마일 섬 재가동), Google, Amazon의 SMR(소형모듈원전) 및 무탄소 에너지 대규모 투자 본격화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765553" y="4709517"/>
            <a:ext cx="7612866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65553" y="4709517"/>
            <a:ext cx="7612866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4" name="Text 31"/>
          <p:cNvSpPr/>
          <p:nvPr/>
        </p:nvSpPr>
        <p:spPr>
          <a:xfrm>
            <a:off x="3949489" y="3766542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3949489" y="3995142"/>
            <a:ext cx="1143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—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65553" y="4934545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8292694" y="4934545"/>
            <a:ext cx="85725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5957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44261" y="233065"/>
            <a:ext cx="1830586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942975"/>
            <a:ext cx="2692971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규제의 시대 도래 — EU AI Act부터 한국 AI 기본법까지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69125" y="2165952"/>
            <a:ext cx="2692971" cy="1028588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2025-2026년은 AI 산업이 </a:t>
            </a:r>
            <a:r>
              <a:rPr lang="en-US" sz="9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'무제한 혁신'에서 '제도적 규제'로 전환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되는 결정적 시기입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니다. 글로벌 각국은 AI의 위험을 통제하면서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도 자국 산업을 보호하기 위한 법적 프레임워</a:t>
            </a:r>
            <a:r>
              <a:rPr lang="en-US" sz="9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크 구축에 속도를 내고 있습니다.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769125" y="3730823"/>
            <a:ext cx="2692971" cy="6858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Shape 7"/>
          <p:cNvSpPr/>
          <p:nvPr/>
        </p:nvSpPr>
        <p:spPr>
          <a:xfrm>
            <a:off x="769125" y="3730823"/>
            <a:ext cx="28575" cy="68580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11" name="Text 8"/>
          <p:cNvSpPr/>
          <p:nvPr/>
        </p:nvSpPr>
        <p:spPr>
          <a:xfrm>
            <a:off x="854850" y="3816548"/>
            <a:ext cx="252152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50505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"AI 규제는 이제 기술 발전의 속도를 늦추는 장애물이 아니라, 글로벌 시장 진출을 위한 필수 컴플라이언스 기준이 되었습니다."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3662121" y="942975"/>
            <a:ext cx="4712726" cy="25717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글로벌 AI 규제 지형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754989" y="1378744"/>
            <a:ext cx="13280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EU (유럽연합)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754989" y="1607344"/>
            <a:ext cx="1328012" cy="20002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Act (인공지능법)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754989" y="1893094"/>
            <a:ext cx="1328012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세계 최초의 포괄적 AI 규제법. 위험도에 따라 4단계로 분류하여 규제. 고위험 AI 시스템에 대한 엄격한 의무 부과 및 위반 시 막대한 과징금.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354464" y="1378744"/>
            <a:ext cx="13280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 (미국)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354464" y="1607344"/>
            <a:ext cx="1328012" cy="20002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행정명령 &amp; 주별 입법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5354464" y="1893094"/>
            <a:ext cx="1328012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연방 차원의 포괄적 법안보다는 가이드라인 중심. 캘리포니아 등 개별 주 단위에서 딥페이크 방지 및 AI 안전성 관련 강력한 법안 추진 중.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953938" y="1378744"/>
            <a:ext cx="13280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KR (대한민국)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953938" y="1607344"/>
            <a:ext cx="1328012" cy="20002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기본법 제정 추진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953938" y="1893094"/>
            <a:ext cx="1328012" cy="750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'선 허용, 후 규제' 원칙 하에 산업 진흥과 신뢰성 확보의 균형 추구. 고위험 AI 정의 및 사업자 의무 규정, AI 위원회 설립 등 포함.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662121" y="2836069"/>
            <a:ext cx="4712726" cy="25717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2026년 핵심 규제 이슈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62121" y="3178969"/>
            <a:ext cx="171450" cy="17145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4" name="Text 21"/>
          <p:cNvSpPr/>
          <p:nvPr/>
        </p:nvSpPr>
        <p:spPr>
          <a:xfrm>
            <a:off x="3662121" y="3178969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3919296" y="3178969"/>
            <a:ext cx="445555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딥페이크 및 허위 정보 (Misinformation)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3919296" y="3362920"/>
            <a:ext cx="44555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선거 개입, 금융 사기, 명예 훼손 방지를 위한 AI 생성물 워터마크 의무화 및 플랫폼 책임 강화.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3662121" y="3598664"/>
            <a:ext cx="171450" cy="17145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28" name="Text 25"/>
          <p:cNvSpPr/>
          <p:nvPr/>
        </p:nvSpPr>
        <p:spPr>
          <a:xfrm>
            <a:off x="3662121" y="3598664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3919296" y="3598664"/>
            <a:ext cx="445555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저작권 및 데이터 스크래핑 (Copyright)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3919296" y="3782616"/>
            <a:ext cx="4455551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학습 데이터의 적법성 논란. NYT vs OpenAI 소송 등 저작권자 보상 모델 및 Opt-out 권리 보장 요구 확대.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3662121" y="4168378"/>
            <a:ext cx="171450" cy="171450"/>
          </a:xfrm>
          <a:prstGeom prst="rect">
            <a:avLst/>
          </a:prstGeom>
          <a:solidFill>
            <a:srgbClr val="050505"/>
          </a:solidFill>
          <a:ln/>
        </p:spPr>
      </p:sp>
      <p:sp>
        <p:nvSpPr>
          <p:cNvPr id="32" name="Text 29"/>
          <p:cNvSpPr/>
          <p:nvPr/>
        </p:nvSpPr>
        <p:spPr>
          <a:xfrm>
            <a:off x="3662121" y="416837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919296" y="4168378"/>
            <a:ext cx="4455551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투명성 및 설명 가능성 (Explainability)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3919296" y="4352330"/>
            <a:ext cx="445555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AI의 의사결정 과정(특히 채용, 대출, 의료 등)에 대한 설명 요구 및 알고리즘 편향성 감사 의무화.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69125" y="4588073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769125" y="4588073"/>
            <a:ext cx="7605722" cy="14288"/>
          </a:xfrm>
          <a:prstGeom prst="rect">
            <a:avLst/>
          </a:prstGeom>
          <a:solidFill>
            <a:srgbClr val="E8E8E8"/>
          </a:solidFill>
          <a:ln/>
        </p:spPr>
      </p:sp>
      <p:sp>
        <p:nvSpPr>
          <p:cNvPr id="37" name="Text 34"/>
          <p:cNvSpPr/>
          <p:nvPr/>
        </p:nvSpPr>
        <p:spPr>
          <a:xfrm>
            <a:off x="769125" y="4813102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33333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269477" y="4813102"/>
            <a:ext cx="10537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5050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90695" y="233065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942975"/>
            <a:ext cx="3097597" cy="9772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90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한국 AI: 반도체 강국에서 AI 강국으로 도약하는 전환점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9125" y="2177365"/>
            <a:ext cx="3097597" cy="548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대한민국은 세계 6위의 AI 경쟁력을 보유하고 있으며, 독자적 파운데이션 모델 보유와 HBM 등 반도체 경쟁력을 통해 글로벌 AI 밸류체인 핵심 국가로 자리잡고 있습니다.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769125" y="2954555"/>
            <a:ext cx="3097597" cy="77864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0" name="Shape 7"/>
          <p:cNvSpPr/>
          <p:nvPr/>
        </p:nvSpPr>
        <p:spPr>
          <a:xfrm>
            <a:off x="769125" y="2954555"/>
            <a:ext cx="28575" cy="77864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854850" y="3040280"/>
            <a:ext cx="2926147" cy="1357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글로벌 AI 경쟁력 지수 (TORTOISE MEDIA)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854850" y="3226017"/>
            <a:ext cx="666155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종합 6위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4850" y="3498903"/>
            <a:ext cx="2926147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인프라 1위 · 특허 3위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038172" y="942975"/>
            <a:ext cx="4336647" cy="25717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한국 AI 산업의 4대 강점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131041" y="1378744"/>
            <a:ext cx="19397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>
                    <a:alpha val="5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4131041" y="1543050"/>
            <a:ext cx="1939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반도체 생태계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4131041" y="1757363"/>
            <a:ext cx="19397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HBM 기반 반도체 경쟁력과 NPU 팹리스 성장.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6342227" y="1378744"/>
            <a:ext cx="19397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>
                    <a:alpha val="5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700" dirty="0"/>
          </a:p>
        </p:txBody>
      </p:sp>
      <p:sp>
        <p:nvSpPr>
          <p:cNvPr id="19" name="Text 16"/>
          <p:cNvSpPr/>
          <p:nvPr/>
        </p:nvSpPr>
        <p:spPr>
          <a:xfrm>
            <a:off x="6342227" y="1543050"/>
            <a:ext cx="1939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자체 파운데이션 모델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342227" y="1757363"/>
            <a:ext cx="193972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한국어 특화 파운데이션 모델과 소버린 AI 역량.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4131041" y="2328863"/>
            <a:ext cx="19397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>
                    <a:alpha val="5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131041" y="2493169"/>
            <a:ext cx="1939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세계 최고 수준의 IT 인프라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4131041" y="2707481"/>
            <a:ext cx="1939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초고속 통신망과 높은 디지털 수용성.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6342227" y="2328863"/>
            <a:ext cx="1939723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>
                    <a:alpha val="50000"/>
                  </a:srgbClr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342227" y="2493169"/>
            <a:ext cx="193972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정부의 강력한 진흥 정책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342227" y="2707481"/>
            <a:ext cx="193972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국가 차원의 전폭적 지원 체계.</a:t>
            </a:r>
            <a:endParaRPr lang="en-US" sz="750" dirty="0"/>
          </a:p>
        </p:txBody>
      </p:sp>
      <p:sp>
        <p:nvSpPr>
          <p:cNvPr id="27" name="Shape 24"/>
          <p:cNvSpPr/>
          <p:nvPr/>
        </p:nvSpPr>
        <p:spPr>
          <a:xfrm>
            <a:off x="4038172" y="3093244"/>
            <a:ext cx="4336647" cy="962620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5"/>
          <p:cNvSpPr/>
          <p:nvPr/>
        </p:nvSpPr>
        <p:spPr>
          <a:xfrm>
            <a:off x="4123897" y="3178969"/>
            <a:ext cx="4165197" cy="15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극복해야 할 핵심 도전 과제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123897" y="3391495"/>
            <a:ext cx="4165197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자본력의 한계:</a:t>
            </a: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글로벌 빅테크 대비 투자 격차.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123897" y="3584377"/>
            <a:ext cx="4165197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핵심 인재 유출:</a:t>
            </a: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해외 유출과 개발자 부족.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4123897" y="3777258"/>
            <a:ext cx="4165197" cy="150019"/>
          </a:xfrm>
          <a:prstGeom prst="rect">
            <a:avLst/>
          </a:prstGeom>
          <a:noFill/>
          <a:ln/>
        </p:spPr>
        <p:txBody>
          <a:bodyPr wrap="none" lIns="119126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데이터 부족:</a:t>
            </a: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한국어 데이터의 양적·질적 한계.</a:t>
            </a:r>
            <a:endParaRPr lang="en-US" sz="750" dirty="0"/>
          </a:p>
        </p:txBody>
      </p:sp>
      <p:sp>
        <p:nvSpPr>
          <p:cNvPr id="32" name="Shape 29"/>
          <p:cNvSpPr/>
          <p:nvPr/>
        </p:nvSpPr>
        <p:spPr>
          <a:xfrm>
            <a:off x="769125" y="457200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33" name="Shape 30"/>
          <p:cNvSpPr/>
          <p:nvPr/>
        </p:nvSpPr>
        <p:spPr>
          <a:xfrm>
            <a:off x="769125" y="4572000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4" name="Text 31"/>
          <p:cNvSpPr/>
          <p:nvPr/>
        </p:nvSpPr>
        <p:spPr>
          <a:xfrm>
            <a:off x="4123897" y="3391495"/>
            <a:ext cx="339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4123897" y="3584377"/>
            <a:ext cx="339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700" dirty="0"/>
          </a:p>
        </p:txBody>
      </p:sp>
      <p:sp>
        <p:nvSpPr>
          <p:cNvPr id="36" name="Text 33"/>
          <p:cNvSpPr/>
          <p:nvPr/>
        </p:nvSpPr>
        <p:spPr>
          <a:xfrm>
            <a:off x="4123897" y="3777258"/>
            <a:ext cx="33933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!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769125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38" name="Text 35"/>
          <p:cNvSpPr/>
          <p:nvPr/>
        </p:nvSpPr>
        <p:spPr>
          <a:xfrm>
            <a:off x="8267691" y="4797028"/>
            <a:ext cx="107156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69125" y="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69125" y="557213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69125" y="216991"/>
            <a:ext cx="1701998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590695" y="233065"/>
            <a:ext cx="1784152" cy="1053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60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769125" y="942975"/>
            <a:ext cx="2661800" cy="14401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10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AGI는 언제 오는가 — 전문가들이 말하는 2027~2030 시나리오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926288" y="2497410"/>
            <a:ext cx="250463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 (범용 인공지능)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26288" y="2781709"/>
            <a:ext cx="246102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인간이 할 수 있는 모든 지적 업무를 인간 수준 이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926288" y="2964573"/>
            <a:ext cx="242173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상으로 수행할 수 있는 AI. 특정 작업에 국한되지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26288" y="3147436"/>
            <a:ext cx="236458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않고, 스스로 학습하고 추론하며 새로운 환경에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26288" y="3330299"/>
            <a:ext cx="150018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적응하는 능력을 갖춘 시스템.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769125" y="3540509"/>
            <a:ext cx="2661800" cy="90290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769125" y="3540509"/>
            <a:ext cx="2661800" cy="90290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AGI는 어느 날 갑자기 완성되는 단일 시점이 아니</a:t>
            </a: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라, 점진적으로 인간의 인지 능력을 초월해가는 </a:t>
            </a:r>
            <a:r>
              <a:rPr lang="en-US" sz="8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'스펙트럼'</a:t>
            </a: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입니다. 2026년 현재, 우리는 이미 그 </a:t>
            </a:r>
            <a:r>
              <a:rPr lang="en-US" sz="8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스펙트럼의 초입에 진입했습니다.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716675" y="942975"/>
            <a:ext cx="2271936" cy="25717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AGI 발전 로드맵 (2026-2030+)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16675" y="1257300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2026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16775" y="1257300"/>
            <a:ext cx="1471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에이전트 AI 대중화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516775" y="1457325"/>
            <a:ext cx="147183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다단계 작업 수행, 도구 사용, 제한적 자율성 확보. 비즈니스 워크플로우 통합.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716675" y="1964531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2027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16775" y="1964531"/>
            <a:ext cx="1471836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고급 추론 및 계획 (Level 3)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516775" y="2319933"/>
            <a:ext cx="147183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복잡한 수학, 코딩, 과학적 문제 해결. 인간의 개입 없이 장기적인 목표 달성.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716675" y="2827139"/>
            <a:ext cx="714375" cy="414338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2028-2029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16775" y="2827139"/>
            <a:ext cx="1471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Proto-AGI (초기 AGI)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16775" y="3027164"/>
            <a:ext cx="147183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대부분의 경제적 가치 창출 업무에서 평균적인 인간 수준 도달. 스스로 AI 모델 개선.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3716675" y="3534370"/>
            <a:ext cx="714375" cy="207169"/>
          </a:xfrm>
          <a:prstGeom prst="rect">
            <a:avLst/>
          </a:prstGeom>
          <a:noFill/>
          <a:ln/>
        </p:spPr>
        <p:txBody>
          <a:bodyPr wrap="none" lIns="0" tIns="0" rIns="102108" bIns="0" rtlCol="0" anchor="t">
            <a:sp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2030+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16775" y="3534370"/>
            <a:ext cx="14718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AGI 및 ASI 진입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516775" y="3734395"/>
            <a:ext cx="1471836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모든 지적 영역에서 인류 최고 전문가 수준 초월. 새로운 과학적 발견 주도.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102911" y="942975"/>
            <a:ext cx="2271936" cy="257175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전문가 예측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102911" y="1257300"/>
            <a:ext cx="2271936" cy="870086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174349" y="1328738"/>
            <a:ext cx="212906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Sam Altman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174349" y="1494830"/>
            <a:ext cx="2129061" cy="15537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OpenAI CEO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174349" y="1707356"/>
            <a:ext cx="21290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2027~2028년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174349" y="1921669"/>
            <a:ext cx="21290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컴퓨팅 파워 증가 추세로 5년 내 가능성 높음.</a:t>
            </a:r>
            <a:endParaRPr lang="en-US" sz="600" dirty="0"/>
          </a:p>
        </p:txBody>
      </p:sp>
      <p:sp>
        <p:nvSpPr>
          <p:cNvPr id="34" name="Shape 31"/>
          <p:cNvSpPr/>
          <p:nvPr/>
        </p:nvSpPr>
        <p:spPr>
          <a:xfrm>
            <a:off x="6102911" y="2170249"/>
            <a:ext cx="2271936" cy="870086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174349" y="2241686"/>
            <a:ext cx="212906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Demis Hassabis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174349" y="2407779"/>
            <a:ext cx="2129061" cy="155377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Google DeepMind CEO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174349" y="2620305"/>
            <a:ext cx="21290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수년 내 (Within a decade)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74349" y="2834618"/>
            <a:ext cx="21290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AGI로 향한 명확한 경로 확인.</a:t>
            </a:r>
            <a:endParaRPr lang="en-US" sz="600" dirty="0"/>
          </a:p>
        </p:txBody>
      </p:sp>
      <p:sp>
        <p:nvSpPr>
          <p:cNvPr id="39" name="Shape 36"/>
          <p:cNvSpPr/>
          <p:nvPr/>
        </p:nvSpPr>
        <p:spPr>
          <a:xfrm>
            <a:off x="6102911" y="3083198"/>
            <a:ext cx="2271936" cy="879016"/>
          </a:xfrm>
          <a:prstGeom prst="rect">
            <a:avLst/>
          </a:prstGeom>
          <a:solidFill>
            <a:srgbClr val="111111"/>
          </a:solidFill>
          <a:ln w="9144">
            <a:solidFill>
              <a:srgbClr val="333333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74349" y="3154635"/>
            <a:ext cx="2129061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Ray Kurzweil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174349" y="3320728"/>
            <a:ext cx="2129061" cy="164306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미래학자</a:t>
            </a:r>
            <a:endParaRPr lang="en-US" sz="600" dirty="0"/>
          </a:p>
        </p:txBody>
      </p:sp>
      <p:sp>
        <p:nvSpPr>
          <p:cNvPr id="42" name="Text 39"/>
          <p:cNvSpPr/>
          <p:nvPr/>
        </p:nvSpPr>
        <p:spPr>
          <a:xfrm>
            <a:off x="6174349" y="3542184"/>
            <a:ext cx="212906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2029년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174349" y="3756496"/>
            <a:ext cx="2129061" cy="11999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60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2029년이면 AI가 인간 수준 지능 도달 예상.</a:t>
            </a:r>
            <a:endParaRPr lang="en-US" sz="600" dirty="0"/>
          </a:p>
        </p:txBody>
      </p:sp>
      <p:sp>
        <p:nvSpPr>
          <p:cNvPr id="44" name="Shape 41"/>
          <p:cNvSpPr/>
          <p:nvPr/>
        </p:nvSpPr>
        <p:spPr>
          <a:xfrm>
            <a:off x="769125" y="4572000"/>
            <a:ext cx="7605722" cy="571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5" name="Shape 42"/>
          <p:cNvSpPr/>
          <p:nvPr/>
        </p:nvSpPr>
        <p:spPr>
          <a:xfrm>
            <a:off x="769125" y="4572000"/>
            <a:ext cx="7605722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46" name="Text 43"/>
          <p:cNvSpPr/>
          <p:nvPr/>
        </p:nvSpPr>
        <p:spPr>
          <a:xfrm>
            <a:off x="769125" y="4797028"/>
            <a:ext cx="2062758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8264119" y="4797028"/>
            <a:ext cx="110728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3897" y="0"/>
            <a:ext cx="7596178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3897" y="700088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5" name="Text 2"/>
          <p:cNvSpPr/>
          <p:nvPr/>
        </p:nvSpPr>
        <p:spPr>
          <a:xfrm>
            <a:off x="773897" y="270570"/>
            <a:ext cx="206454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330535" y="296466"/>
            <a:ext cx="2039541" cy="1214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750" spc="1" kern="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Beyond the norm, We set the standard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773897" y="857278"/>
            <a:ext cx="3046000" cy="19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AI는 도구가 아니</a:t>
            </a:r>
            <a:r>
              <a:rPr lang="en-US" sz="28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다</a:t>
            </a:r>
            <a:r>
              <a:rPr lang="en-US" sz="28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
</a:t>
            </a:r>
            <a:r>
              <a:rPr lang="en-US" sz="28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새로운 경제 인프</a:t>
            </a:r>
            <a:r>
              <a:rPr lang="en-US" sz="2850" b="1" spc="-1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라다</a:t>
            </a:r>
            <a:endParaRPr lang="en-US" sz="2850" dirty="0"/>
          </a:p>
        </p:txBody>
      </p:sp>
      <p:sp>
        <p:nvSpPr>
          <p:cNvPr id="8" name="Text 5"/>
          <p:cNvSpPr/>
          <p:nvPr/>
        </p:nvSpPr>
        <p:spPr>
          <a:xfrm>
            <a:off x="931059" y="2952517"/>
            <a:ext cx="275570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2026년, AI는 기업의 생존과 국가 경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31059" y="3226826"/>
            <a:ext cx="2764631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쟁력을 좌우하는 핵심 인프라로 자리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31059" y="3501135"/>
            <a:ext cx="90547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잡았습니다.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31059" y="3829022"/>
            <a:ext cx="2888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STANDARD PRODUCTION — AI 시대의 기준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105647" y="1206401"/>
            <a:ext cx="4264428" cy="237530"/>
          </a:xfrm>
          <a:prstGeom prst="rect">
            <a:avLst/>
          </a:prstGeom>
          <a:noFill/>
          <a:ln/>
        </p:spPr>
        <p:txBody>
          <a:bodyPr wrap="square" lIns="0" tIns="0" rIns="0" bIns="68072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KEY TAKEAWAYS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05647" y="1558230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01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05697" y="1558230"/>
            <a:ext cx="38643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생성형 AI 대중화 완성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05697" y="1793974"/>
            <a:ext cx="3864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전 세계 16억 명 사용, 기업 도입률 88% 돌파.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105647" y="2051149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05697" y="2051149"/>
            <a:ext cx="38643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에이전트 AI 시대 개막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505697" y="2286893"/>
            <a:ext cx="3864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자율적으로 워크플로우를 수행하는 AI의 확산.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105647" y="2544068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03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05697" y="2544068"/>
            <a:ext cx="38643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피지컬 AI의 부상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05697" y="2779812"/>
            <a:ext cx="3864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휴머노이드·자율주행 등 현실로 확장되는 지능.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05647" y="3036987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05697" y="3036987"/>
            <a:ext cx="38643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인프라 패권 경쟁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05697" y="3272730"/>
            <a:ext cx="3864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데이터센터·반도체·에너지 확보가 핵심.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4105647" y="3529905"/>
            <a:ext cx="285750" cy="214313"/>
          </a:xfrm>
          <a:prstGeom prst="rect">
            <a:avLst/>
          </a:prstGeom>
          <a:noFill/>
          <a:ln/>
        </p:spPr>
        <p:txBody>
          <a:bodyPr wrap="none" lIns="0" tIns="0" rIns="0" bIns="34036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05697" y="3529905"/>
            <a:ext cx="3864378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규제와 윤리의 제도화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05697" y="3765649"/>
            <a:ext cx="386437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E8E8E8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글로벌 규제 프레임워크와 컴플라이언스의 중요성.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73897" y="4429125"/>
            <a:ext cx="7596178" cy="71437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773897" y="4429125"/>
            <a:ext cx="7596178" cy="14288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30" name="Text 27"/>
          <p:cNvSpPr/>
          <p:nvPr/>
        </p:nvSpPr>
        <p:spPr>
          <a:xfrm>
            <a:off x="773897" y="4717554"/>
            <a:ext cx="2084189" cy="137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E8E8E8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 INTELLIGENCE REPORT 2025-2026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071699" y="4682728"/>
            <a:ext cx="1298377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spc="3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2026-04-23T20:05:34Z</dcterms:created>
  <dcterms:modified xsi:type="dcterms:W3CDTF">2026-04-23T20:05:34Z</dcterms:modified>
</cp:coreProperties>
</file>