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총점</c:v>
                </c:pt>
              </c:strCache>
            </c:strRef>
          </c:tx>
          <c:spPr>
            <a:solidFill>
              <a:srgbClr val="EDED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GPT-5.4 Thinking</c:v>
                  </c:pt>
                  <c:pt idx="1">
                    <c:v>Manus AI 1.6</c:v>
                  </c:pt>
                  <c:pt idx="2">
                    <c:v>Gemini 3.1 Pro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79</c:v>
                </c:pt>
                <c:pt idx="2">
                  <c:v>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DEDED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8B8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 w="12700" cap="flat">
          <a:solidFill>
            <a:srgbClr val="4A4A4A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1064240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FB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PPT EVALUATION REPORT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698480" y="2011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FB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2026.04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A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A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23960" y="868680"/>
            <a:ext cx="2468880" cy="507492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pic>
        <p:nvPicPr>
          <p:cNvPr id="3" name="Image 0" descr="/mnt/data/render_gpt/png/pag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960120"/>
            <a:ext cx="2286000" cy="1325880"/>
          </a:xfrm>
          <a:prstGeom prst="rect">
            <a:avLst/>
          </a:prstGeom>
        </p:spPr>
      </p:pic>
      <p:pic>
        <p:nvPicPr>
          <p:cNvPr id="4" name="Image 1" descr="/mnt/data/render_manus/png/page-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450592"/>
            <a:ext cx="2286000" cy="132588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8915400" y="4087368"/>
            <a:ext cx="2267712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8942832" y="4224528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5"/>
                </a:solidFill>
              </a:rPr>
              <a:t>Gemini 3.1 Pro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5F5F5"/>
                </a:solidFill>
              </a:rPr>
              <a:t>No PPT file attached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548640" y="12344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5"/>
                </a:solidFill>
              </a:rPr>
              <a:t>AI로 PPT를 누가 더 잘 만드는가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5F5F5"/>
                </a:solidFill>
              </a:rPr>
              <a:t>모델별 산출물, 조사력, 발표 적합성, 비용 효율 종합 평가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548640" y="2176272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8B8"/>
                </a:solidFill>
              </a:rPr>
              <a:t>Comparison Models  GPT-5.4 Thinking  ·  Manus AI 1.6  ·  Gemini 3.1 Pro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48640" y="292608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DEDED"/>
                </a:solidFill>
              </a:rPr>
              <a:t>평가 목적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DEDED"/>
                </a:solidFill>
              </a:rPr>
              <a:t>동일 프롬프트 기준으로 AI별 PPT 제작 성능을 등급화하고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DEDED"/>
                </a:solidFill>
              </a:rPr>
              <a:t>실제 발표용 산출물 제작에 가장 적합한 모델을 도출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548640" y="589788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E9E"/>
                </a:solidFill>
              </a:rPr>
              <a:t>Prepared from user test notes, uploaded outputs, and official plan/model information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48640" y="6400800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8E8E"/>
                </a:solidFill>
              </a:rPr>
              <a:t>Source: user-provided outputs, task notes, official pricing and model pages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A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평가 범위와 방법론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</a:rPr>
              <a:t>동일 프롬프트 · 동일 과업 목적 · 업로드 산출물 중심 검토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51515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276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5"/>
                </a:solidFill>
              </a:rPr>
              <a:t>테스트 프롬프트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0" y="158191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ED"/>
                </a:solidFill>
              </a:rPr>
              <a:t>최신 Ai 동향 및 트랜드에 대해 자세히 조사하고 발표용 ppt로 만들어줘.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DEDED"/>
                </a:solidFill>
              </a:rPr>
              <a:t>15장 분량으로 제작해주고, 디자인은 블랙 앤 화이트 톤의 모던하고 고급스러운 디자인으로 만들어줘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11111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8437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</a:rPr>
              <a:t>평가 기준 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11810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</a:rPr>
              <a:t>프롬프트 이해와 준수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</a:rPr>
              <a:t>요청 조건 15장, 블랙·화이트, 발표용 적합성 반영 여부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2697480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11111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8437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</a:rPr>
              <a:t>평가 기준 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311810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</a:rPr>
              <a:t>조사와 구조화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</a:rPr>
              <a:t>최신 동향 조사 범위, 정보의 정리 수준, 논리 흐름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11111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26110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</a:rPr>
              <a:t>평가 기준 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53542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</a:rPr>
              <a:t>발표용 품질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</a:rPr>
              <a:t>가독성, 정보 밀도, 시각 요소, 청중 친화성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4114800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11111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426110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</a:rPr>
              <a:t>평가 기준 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453542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</a:rPr>
              <a:t>비용 합리성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</a:rPr>
              <a:t>구독/크레딧 구조, 결과물 대비 비용 예측 가능성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57784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11111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742432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8B8"/>
                </a:solidFill>
              </a:rPr>
              <a:t>평가 제한  Gemini 3.1 Pro는 업로드된 PPT 파일이 없어, 사용자 서술 기준으로만 평가함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8E8E"/>
                </a:solidFill>
              </a:rPr>
              <a:t>Source: user-provided outputs, task notes, official pricing and model pages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A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생성 결과 요약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</a:rPr>
              <a:t>실행 성공 여부, 소요 시간, 산출물 형태를 먼저 비교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7335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Model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51760" y="1554480"/>
            <a:ext cx="1371600" cy="43891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24912" y="1673352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생성 여부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23360" y="1554480"/>
            <a:ext cx="1143000" cy="43891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96512" y="1673352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소요 시간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66360" y="1554480"/>
            <a:ext cx="1920240" cy="43891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9512" y="1673352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산출물 성격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86600" y="1554480"/>
            <a:ext cx="4480560" cy="43891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59752" y="1673352"/>
            <a:ext cx="4334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비고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011680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141414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1579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GPT-5.4 Thinking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651760" y="2011680"/>
            <a:ext cx="1371600" cy="713232"/>
          </a:xfrm>
          <a:prstGeom prst="roundRect">
            <a:avLst>
              <a:gd name="adj" fmla="val 10256"/>
            </a:avLst>
          </a:prstGeom>
          <a:solidFill>
            <a:srgbClr val="141414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1579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성공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023360" y="2011680"/>
            <a:ext cx="1143000" cy="713232"/>
          </a:xfrm>
          <a:prstGeom prst="roundRect">
            <a:avLst>
              <a:gd name="adj" fmla="val 10256"/>
            </a:avLst>
          </a:prstGeom>
          <a:solidFill>
            <a:srgbClr val="141414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215798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13분 28초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166360" y="2011680"/>
            <a:ext cx="1920240" cy="713232"/>
          </a:xfrm>
          <a:prstGeom prst="roundRect">
            <a:avLst>
              <a:gd name="adj" fmla="val 10256"/>
            </a:avLst>
          </a:prstGeom>
          <a:solidFill>
            <a:srgbClr val="141414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215798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PPT 생성 완료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86600" y="2011680"/>
            <a:ext cx="4480560" cy="713232"/>
          </a:xfrm>
          <a:prstGeom prst="roundRect">
            <a:avLst>
              <a:gd name="adj" fmla="val 10256"/>
            </a:avLst>
          </a:prstGeom>
          <a:solidFill>
            <a:srgbClr val="141414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8040" y="215798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이미지+텍스트 조화, 시각 요소 적극 활용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2816352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141414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296265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Manus AI 1.6 일반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651760" y="2816352"/>
            <a:ext cx="1371600" cy="713232"/>
          </a:xfrm>
          <a:prstGeom prst="roundRect">
            <a:avLst>
              <a:gd name="adj" fmla="val 10256"/>
            </a:avLst>
          </a:prstGeom>
          <a:solidFill>
            <a:srgbClr val="141414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29626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성공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023360" y="2816352"/>
            <a:ext cx="1143000" cy="713232"/>
          </a:xfrm>
          <a:prstGeom prst="roundRect">
            <a:avLst>
              <a:gd name="adj" fmla="val 10256"/>
            </a:avLst>
          </a:prstGeom>
          <a:solidFill>
            <a:srgbClr val="141414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0" y="296265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10분 13초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166360" y="2816352"/>
            <a:ext cx="1920240" cy="713232"/>
          </a:xfrm>
          <a:prstGeom prst="roundRect">
            <a:avLst>
              <a:gd name="adj" fmla="val 10256"/>
            </a:avLst>
          </a:prstGeom>
          <a:solidFill>
            <a:srgbClr val="141414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29626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PPT 생성 완료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086600" y="2816352"/>
            <a:ext cx="4480560" cy="713232"/>
          </a:xfrm>
          <a:prstGeom prst="roundRect">
            <a:avLst>
              <a:gd name="adj" fmla="val 10256"/>
            </a:avLst>
          </a:prstGeom>
          <a:solidFill>
            <a:srgbClr val="141414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78040" y="296265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텍스트 비중 높음, 기존 학습된 회사명·슬로건 반영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3621024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141414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37673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Gemini 3.1 Pro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651760" y="3621024"/>
            <a:ext cx="1371600" cy="713232"/>
          </a:xfrm>
          <a:prstGeom prst="roundRect">
            <a:avLst>
              <a:gd name="adj" fmla="val 10256"/>
            </a:avLst>
          </a:prstGeom>
          <a:solidFill>
            <a:srgbClr val="141414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37673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실패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023360" y="3621024"/>
            <a:ext cx="1143000" cy="713232"/>
          </a:xfrm>
          <a:prstGeom prst="roundRect">
            <a:avLst>
              <a:gd name="adj" fmla="val 10256"/>
            </a:avLst>
          </a:prstGeom>
          <a:solidFill>
            <a:srgbClr val="141414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0" y="376732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-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166360" y="3621024"/>
            <a:ext cx="1920240" cy="713232"/>
          </a:xfrm>
          <a:prstGeom prst="roundRect">
            <a:avLst>
              <a:gd name="adj" fmla="val 10256"/>
            </a:avLst>
          </a:prstGeom>
          <a:solidFill>
            <a:srgbClr val="141414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57800" y="37673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텍스트 응답만 제공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086600" y="3621024"/>
            <a:ext cx="4480560" cy="713232"/>
          </a:xfrm>
          <a:prstGeom prst="roundRect">
            <a:avLst>
              <a:gd name="adj" fmla="val 10256"/>
            </a:avLst>
          </a:prstGeom>
          <a:solidFill>
            <a:srgbClr val="141414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78040" y="376732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PPT 파일 생성 불가라고 응답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40080" y="452628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11111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47091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</a:rPr>
              <a:t>관찰된 생성 과정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822960" y="4992624"/>
            <a:ext cx="47548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</a:rPr>
              <a:t>GPT와 Manus 모두 웹 검색과 코드 기반 제작 프로세스를 바로 시작</a:t>
            </a:r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</a:rPr>
              <a:t>
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</a:rPr>
              <a:t>두 모델 모두 생성 과정을 사용자가 직접 관찰 가능</a:t>
            </a:r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</a:rPr>
              <a:t>
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</a:rPr>
              <a:t>GPT는 이미지 생성까지 시도하며 시각적 완성도를 끌어올림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72200" y="452628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11111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55080" y="47091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</a:rPr>
              <a:t>초기 판단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6355080" y="4992624"/>
            <a:ext cx="48463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</a:rPr>
              <a:t>완성된 PPT를 산출한 모델은 GPT와 Manus뿐</a:t>
            </a:r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</a:rPr>
              <a:t>
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</a:rPr>
              <a:t>Gemini는 이번 과업 기준에서 발표자료 생성 도구로는 실격 처리 가능</a:t>
            </a:r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</a:rPr>
              <a:t>
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</a:rPr>
              <a:t>따라서 최종 승부는 GPT vs Manus의 품질 차이로 좁혀짐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48640" y="6400800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8E8E"/>
                </a:solidFill>
              </a:rPr>
              <a:t>Source: user task notes and uploaded outputs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A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평가 스코어링 프레임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</a:rPr>
              <a:t>4개 기준을 각각 25점으로 환산하고 총점 기준으로 Grade 산정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4297680" cy="713232"/>
          </a:xfrm>
          <a:prstGeom prst="roundRect">
            <a:avLst>
              <a:gd name="adj" fmla="val 10256"/>
            </a:avLst>
          </a:prstGeom>
          <a:solidFill>
            <a:srgbClr val="11111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733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</a:rPr>
              <a:t>프롬프트 이해·준수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069080" y="165506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F5F5"/>
                </a:solidFill>
              </a:rPr>
              <a:t>25 pts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4297680" cy="713232"/>
          </a:xfrm>
          <a:prstGeom prst="roundRect">
            <a:avLst>
              <a:gd name="adj" fmla="val 10256"/>
            </a:avLst>
          </a:prstGeom>
          <a:solidFill>
            <a:srgbClr val="11111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791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</a:rPr>
              <a:t>조사·정리 수준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69080" y="26609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F5F5"/>
                </a:solidFill>
              </a:rPr>
              <a:t>25 pts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520440"/>
            <a:ext cx="4297680" cy="713232"/>
          </a:xfrm>
          <a:prstGeom prst="roundRect">
            <a:avLst>
              <a:gd name="adj" fmla="val 10256"/>
            </a:avLst>
          </a:prstGeom>
          <a:solidFill>
            <a:srgbClr val="11111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6850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</a:rPr>
              <a:t>발표용 적합성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69080" y="366674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F5F5"/>
                </a:solidFill>
              </a:rPr>
              <a:t>25 pts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4526280"/>
            <a:ext cx="4297680" cy="713232"/>
          </a:xfrm>
          <a:prstGeom prst="roundRect">
            <a:avLst>
              <a:gd name="adj" fmla="val 10256"/>
            </a:avLst>
          </a:prstGeom>
          <a:solidFill>
            <a:srgbClr val="11111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6908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</a:rPr>
              <a:t>비용 합리성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69080" y="467258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F5F5"/>
                </a:solidFill>
              </a:rPr>
              <a:t>25 pts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77840" y="1508760"/>
            <a:ext cx="5486400" cy="3840480"/>
          </a:xfrm>
          <a:prstGeom prst="roundRect">
            <a:avLst>
              <a:gd name="adj" fmla="val 1905"/>
            </a:avLst>
          </a:prstGeom>
          <a:solidFill>
            <a:srgbClr val="11111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17373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</a:rPr>
              <a:t>Grade 기준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06440" y="2450592"/>
            <a:ext cx="4983480" cy="0"/>
          </a:xfrm>
          <a:prstGeom prst="line">
            <a:avLst/>
          </a:prstGeom>
          <a:noFill/>
          <a:ln w="12700">
            <a:solidFill>
              <a:srgbClr val="3030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21488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</a:rPr>
              <a:t>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21488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</a:rPr>
              <a:t>90–100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43800" y="21488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8B8"/>
                </a:solidFill>
              </a:rPr>
              <a:t>즉시 실무 투입 가능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06440" y="2926080"/>
            <a:ext cx="4983480" cy="0"/>
          </a:xfrm>
          <a:prstGeom prst="line">
            <a:avLst/>
          </a:prstGeom>
          <a:noFill/>
          <a:ln w="12700">
            <a:solidFill>
              <a:srgbClr val="3030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26243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</a:rPr>
              <a:t>B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83680" y="26243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</a:rPr>
              <a:t>80–89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43800" y="26243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8B8"/>
                </a:solidFill>
              </a:rPr>
              <a:t>수정 후 활용 가능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401568"/>
            <a:ext cx="4983480" cy="0"/>
          </a:xfrm>
          <a:prstGeom prst="line">
            <a:avLst/>
          </a:prstGeom>
          <a:noFill/>
          <a:ln w="12700">
            <a:solidFill>
              <a:srgbClr val="3030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3099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</a:rPr>
              <a:t>C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83680" y="309981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</a:rPr>
              <a:t>70–79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43800" y="309981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8B8"/>
                </a:solidFill>
              </a:rPr>
              <a:t>기본 요건 충족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06440" y="3877056"/>
            <a:ext cx="4983480" cy="0"/>
          </a:xfrm>
          <a:prstGeom prst="line">
            <a:avLst/>
          </a:prstGeom>
          <a:noFill/>
          <a:ln w="12700">
            <a:solidFill>
              <a:srgbClr val="3030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35753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</a:rPr>
              <a:t>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83680" y="35753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</a:rPr>
              <a:t>60–69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543800" y="357530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8B8"/>
                </a:solidFill>
              </a:rPr>
              <a:t>용도 제한 큼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06440" y="4352544"/>
            <a:ext cx="4983480" cy="0"/>
          </a:xfrm>
          <a:prstGeom prst="line">
            <a:avLst/>
          </a:prstGeom>
          <a:noFill/>
          <a:ln w="12700">
            <a:solidFill>
              <a:srgbClr val="3030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40507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</a:rPr>
              <a:t>F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83680" y="40507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</a:rPr>
              <a:t>59 이하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543800" y="40507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8B8"/>
                </a:solidFill>
              </a:rPr>
              <a:t>과업 실패 수준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31520" y="5577840"/>
            <a:ext cx="10332720" cy="502920"/>
          </a:xfrm>
          <a:prstGeom prst="roundRect">
            <a:avLst>
              <a:gd name="adj" fmla="val 14545"/>
            </a:avLst>
          </a:prstGeom>
          <a:solidFill>
            <a:srgbClr val="11111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574243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8B8"/>
                </a:solidFill>
              </a:rPr>
              <a:t>중요  이번 평가는 범용 모델의 절대 성능이 아니라 “동일한 PPT 제작 과업에서의 실제 결과물 적합성”을 평가함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8640" y="6400800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8E8E"/>
                </a:solidFill>
              </a:rPr>
              <a:t>Source: user-provided outputs, task notes, official pricing and model pages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A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모델 평가 01  GPT-5.4 Thinking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</a:rPr>
              <a:t>이번 비교에서 가장 균형이 좋았던 산출물</a:t>
            </a:r>
            <a:endParaRPr lang="en-US" sz="1000" dirty="0"/>
          </a:p>
        </p:txBody>
      </p:sp>
      <p:pic>
        <p:nvPicPr>
          <p:cNvPr id="4" name="Image 0" descr="/mnt/data/render_gpt/png/pag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4297680" cy="24140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40416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</a:rPr>
              <a:t>총점 92 / 100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11880" y="40599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F5F5"/>
                </a:solidFill>
              </a:rPr>
              <a:t>Grade  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45079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</a:rPr>
              <a:t>프롬프트 준수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514600" y="4526280"/>
            <a:ext cx="2514600" cy="146304"/>
          </a:xfrm>
          <a:prstGeom prst="rect">
            <a:avLst/>
          </a:prstGeom>
          <a:solidFill>
            <a:srgbClr val="1D1D1D"/>
          </a:solidFill>
          <a:ln w="12700">
            <a:solidFill>
              <a:srgbClr val="35353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514600" y="4526280"/>
            <a:ext cx="603504" cy="14630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17720" y="451713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0B0B"/>
                </a:solidFill>
              </a:rPr>
              <a:t>24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77240" y="48737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</a:rPr>
              <a:t>조사·정리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14600" y="4892040"/>
            <a:ext cx="2514600" cy="146304"/>
          </a:xfrm>
          <a:prstGeom prst="rect">
            <a:avLst/>
          </a:prstGeom>
          <a:solidFill>
            <a:srgbClr val="1D1D1D"/>
          </a:solidFill>
          <a:ln w="12700">
            <a:solidFill>
              <a:srgbClr val="35353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14600" y="4892040"/>
            <a:ext cx="578358" cy="14630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17720" y="488289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0B0B"/>
                </a:solidFill>
              </a:rPr>
              <a:t>23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77240" y="523951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</a:rPr>
              <a:t>발표 적합성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514600" y="5257800"/>
            <a:ext cx="2514600" cy="146304"/>
          </a:xfrm>
          <a:prstGeom prst="rect">
            <a:avLst/>
          </a:prstGeom>
          <a:solidFill>
            <a:srgbClr val="1D1D1D"/>
          </a:solidFill>
          <a:ln w="12700">
            <a:solidFill>
              <a:srgbClr val="35353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514600" y="5257800"/>
            <a:ext cx="603504" cy="14630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17720" y="52486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0B0B"/>
                </a:solidFill>
              </a:rPr>
              <a:t>24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77240" y="56052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</a:rPr>
              <a:t>비용 합리성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514600" y="5623560"/>
            <a:ext cx="2514600" cy="146304"/>
          </a:xfrm>
          <a:prstGeom prst="rect">
            <a:avLst/>
          </a:prstGeom>
          <a:solidFill>
            <a:srgbClr val="1D1D1D"/>
          </a:solidFill>
          <a:ln w="12700">
            <a:solidFill>
              <a:srgbClr val="35353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514600" y="5623560"/>
            <a:ext cx="528066" cy="14630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17720" y="56144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0B0B"/>
                </a:solidFill>
              </a:rPr>
              <a:t>21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303520" y="1417320"/>
            <a:ext cx="5989320" cy="4480560"/>
          </a:xfrm>
          <a:prstGeom prst="roundRect">
            <a:avLst>
              <a:gd name="adj" fmla="val 1633"/>
            </a:avLst>
          </a:prstGeom>
          <a:solidFill>
            <a:srgbClr val="151515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68112" y="1545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</a:rPr>
              <a:t>Pros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468112" y="1783080"/>
            <a:ext cx="5660136" cy="20162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• 15장 구조와 블랙·화이트 톤을 대체로 충실하게 반영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• 이미지와 텍스트의 균형이 좋아 발표용 시각 밀도가 우수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• 실제 발표에서 바로 사용할 수 있을 정도로 슬라이드별 역할이 비교적 명확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468112" y="392643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</a:rPr>
              <a:t>Cons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468112" y="4374490"/>
            <a:ext cx="566013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• 일부 슬라이드의 텍스트 밀도는 여전히 높은 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• 소요 시간이 Manus보다 길었음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• 디자인 완성도는 높지만 자료 정확성 검증은 별도 점검 필요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9738360" y="154533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F5F5"/>
                </a:solidFill>
              </a:rPr>
              <a:t>Grade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0149840" y="14630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5F5F5"/>
                </a:solidFill>
              </a:rPr>
              <a:t>A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548640" y="6400800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8E8E"/>
                </a:solidFill>
              </a:rPr>
              <a:t>Source: uploaded GPT deck and user notes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A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모델 평가 02  Manus AI 1.6 일반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</a:rPr>
              <a:t>빠르게 완성했지만 발표용 미감과 비용 예측성에서 손해</a:t>
            </a:r>
            <a:endParaRPr lang="en-US" sz="1000" dirty="0"/>
          </a:p>
        </p:txBody>
      </p:sp>
      <p:pic>
        <p:nvPicPr>
          <p:cNvPr id="4" name="Image 0" descr="/mnt/data/render_manus/png/pag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4297680" cy="24140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40416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</a:rPr>
              <a:t>총점 79 / 100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383280" y="405993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F5F5"/>
                </a:solidFill>
              </a:rPr>
              <a:t>Grade  C+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45079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</a:rPr>
              <a:t>프롬프트 준수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514600" y="4526280"/>
            <a:ext cx="2514600" cy="146304"/>
          </a:xfrm>
          <a:prstGeom prst="rect">
            <a:avLst/>
          </a:prstGeom>
          <a:solidFill>
            <a:srgbClr val="1D1D1D"/>
          </a:solidFill>
          <a:ln w="12700">
            <a:solidFill>
              <a:srgbClr val="35353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514600" y="4526280"/>
            <a:ext cx="528066" cy="14630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17720" y="451713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0B0B"/>
                </a:solidFill>
              </a:rPr>
              <a:t>21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77240" y="48737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</a:rPr>
              <a:t>조사·정리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14600" y="4892040"/>
            <a:ext cx="2514600" cy="146304"/>
          </a:xfrm>
          <a:prstGeom prst="rect">
            <a:avLst/>
          </a:prstGeom>
          <a:solidFill>
            <a:srgbClr val="1D1D1D"/>
          </a:solidFill>
          <a:ln w="12700">
            <a:solidFill>
              <a:srgbClr val="35353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14600" y="4892040"/>
            <a:ext cx="502920" cy="14630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17720" y="488289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0B0B"/>
                </a:solidFill>
              </a:rPr>
              <a:t>20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77240" y="523951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</a:rPr>
              <a:t>발표 적합성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514600" y="5257800"/>
            <a:ext cx="2514600" cy="146304"/>
          </a:xfrm>
          <a:prstGeom prst="rect">
            <a:avLst/>
          </a:prstGeom>
          <a:solidFill>
            <a:srgbClr val="1D1D1D"/>
          </a:solidFill>
          <a:ln w="12700">
            <a:solidFill>
              <a:srgbClr val="35353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514600" y="5257800"/>
            <a:ext cx="427482" cy="14630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17720" y="52486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0B0B"/>
                </a:solidFill>
              </a:rPr>
              <a:t>17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77240" y="56052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</a:rPr>
              <a:t>비용 합리성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514600" y="5623560"/>
            <a:ext cx="2514600" cy="146304"/>
          </a:xfrm>
          <a:prstGeom prst="rect">
            <a:avLst/>
          </a:prstGeom>
          <a:solidFill>
            <a:srgbClr val="1D1D1D"/>
          </a:solidFill>
          <a:ln w="12700">
            <a:solidFill>
              <a:srgbClr val="35353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514600" y="5623560"/>
            <a:ext cx="528066" cy="14630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17720" y="56144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0B0B"/>
                </a:solidFill>
              </a:rPr>
              <a:t>21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303520" y="1417320"/>
            <a:ext cx="5989320" cy="4480560"/>
          </a:xfrm>
          <a:prstGeom prst="roundRect">
            <a:avLst>
              <a:gd name="adj" fmla="val 1633"/>
            </a:avLst>
          </a:prstGeom>
          <a:solidFill>
            <a:srgbClr val="151515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68112" y="1545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</a:rPr>
              <a:t>Pros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468112" y="1783080"/>
            <a:ext cx="5660136" cy="20162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• 요청을 이해하고 실제 PPT 파일까지 완성한 점은 강점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• 생성 속도는 GPT보다 빨랐음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• 목차, 통계 카드, 비교표 등 보고서 구조는 기본 이상으로 갖춤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468112" y="392643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</a:rPr>
              <a:t>Cons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468112" y="4374490"/>
            <a:ext cx="566013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• 텍스트 비중이 높아 발표용 화면 집중력이 떨어짐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• 기존 회사명·슬로건이 삽입되어 과업 독립성이 흔들림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• 크레딧 기반 과금이라 반복 수정 시 비용 부담과 예측 불확실성이 큼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9738360" y="154533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F5F5"/>
                </a:solidFill>
              </a:rPr>
              <a:t>Grade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0149840" y="14630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5F5F5"/>
                </a:solidFill>
              </a:rPr>
              <a:t>C+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548640" y="6400800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8E8E"/>
                </a:solidFill>
              </a:rPr>
              <a:t>Source: uploaded Manus deck and user notes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A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모델 평가 03  Gemini 3.1 Pro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</a:rPr>
              <a:t>모델 성능과 별개로 이번 과업에서는 산출 실패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4206240" cy="3017520"/>
          </a:xfrm>
          <a:prstGeom prst="roundRect">
            <a:avLst>
              <a:gd name="adj" fmla="val 2424"/>
            </a:avLst>
          </a:prstGeom>
          <a:solidFill>
            <a:srgbClr val="11111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03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F5F5"/>
                </a:solidFill>
              </a:rPr>
              <a:t>NO PPT OUTPUT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DEDED"/>
                </a:solidFill>
              </a:rPr>
              <a:t>사용자 진술 기준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DEDED"/>
                </a:solidFill>
              </a:rPr>
              <a:t>“생성 불가하다며 텍스트로만 작성”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6634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</a:rPr>
              <a:t>총점 43 / 100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749040" y="46817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F5F5"/>
                </a:solidFill>
              </a:rPr>
              <a:t>Grade  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50566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</a:rPr>
              <a:t>프롬프트 준수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5074920"/>
            <a:ext cx="2514600" cy="146304"/>
          </a:xfrm>
          <a:prstGeom prst="rect">
            <a:avLst/>
          </a:prstGeom>
          <a:solidFill>
            <a:srgbClr val="1D1D1D"/>
          </a:solidFill>
          <a:ln w="12700">
            <a:solidFill>
              <a:srgbClr val="3535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5074920"/>
            <a:ext cx="251460" cy="14630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506577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0B0B"/>
                </a:solidFill>
              </a:rPr>
              <a:t>10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54223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</a:rPr>
              <a:t>조사·정리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14600" y="5440680"/>
            <a:ext cx="2514600" cy="146304"/>
          </a:xfrm>
          <a:prstGeom prst="rect">
            <a:avLst/>
          </a:prstGeom>
          <a:solidFill>
            <a:srgbClr val="1D1D1D"/>
          </a:solidFill>
          <a:ln w="12700">
            <a:solidFill>
              <a:srgbClr val="3535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14600" y="5440680"/>
            <a:ext cx="452628" cy="14630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543153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0B0B"/>
                </a:solidFill>
              </a:rPr>
              <a:t>18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57881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</a:rPr>
              <a:t>발표 적합성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14600" y="5806440"/>
            <a:ext cx="2514600" cy="146304"/>
          </a:xfrm>
          <a:prstGeom prst="rect">
            <a:avLst/>
          </a:prstGeom>
          <a:solidFill>
            <a:srgbClr val="1D1D1D"/>
          </a:solidFill>
          <a:ln w="12700">
            <a:solidFill>
              <a:srgbClr val="3535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4600" y="5806440"/>
            <a:ext cx="0" cy="14630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579729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0B0B"/>
                </a:solidFill>
              </a:rPr>
              <a:t>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615391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</a:rPr>
              <a:t>비용 합리성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14600" y="6172200"/>
            <a:ext cx="2514600" cy="146304"/>
          </a:xfrm>
          <a:prstGeom prst="rect">
            <a:avLst/>
          </a:prstGeom>
          <a:solidFill>
            <a:srgbClr val="1D1D1D"/>
          </a:solidFill>
          <a:ln w="12700">
            <a:solidFill>
              <a:srgbClr val="3535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14600" y="6172200"/>
            <a:ext cx="377190" cy="14630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61630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0B0B"/>
                </a:solidFill>
              </a:rPr>
              <a:t>15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03520" y="1417320"/>
            <a:ext cx="5989320" cy="4480560"/>
          </a:xfrm>
          <a:prstGeom prst="roundRect">
            <a:avLst>
              <a:gd name="adj" fmla="val 1633"/>
            </a:avLst>
          </a:prstGeom>
          <a:solidFill>
            <a:srgbClr val="151515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68112" y="1545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</a:rPr>
              <a:t>Pros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68112" y="1783080"/>
            <a:ext cx="5660136" cy="20162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• Gemini 3.1 Pro 자체는 최신 복합 추론·멀티모달 모델임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• 구독형 요금이라 비용 예측성은 상대적으로 양호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68112" y="392643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</a:rPr>
              <a:t>Cons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68112" y="4374490"/>
            <a:ext cx="566013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• 이번 테스트에서는 PPT 파일 생성 자체에 실패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• 따라서 발표 적합성 항목은 사실상 평가 불가이자 0점 처리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• 텍스트 응답만으로는 사용자의 핵심 목적을 충족하지 못함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738360" y="154533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F5F5"/>
                </a:solidFill>
              </a:rPr>
              <a:t>Grade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149840" y="14630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5F5F5"/>
                </a:solidFill>
              </a:rPr>
              <a:t>F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48640" y="6400800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8E8E"/>
                </a:solidFill>
              </a:rPr>
              <a:t>Source: user notes; no Gemini PPT file was attached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A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결과물 시각 비교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</a:rPr>
              <a:t>실제 발표 장면에서 보이는 첫인상 차이가 분명함</a:t>
            </a:r>
            <a:endParaRPr lang="en-US" sz="1000" dirty="0"/>
          </a:p>
        </p:txBody>
      </p:sp>
      <p:pic>
        <p:nvPicPr>
          <p:cNvPr id="4" name="Image 0" descr="/mnt/data/render_gpt/png/pag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3749040" cy="2103120"/>
          </a:xfrm>
          <a:prstGeom prst="rect">
            <a:avLst/>
          </a:prstGeom>
        </p:spPr>
      </p:pic>
      <p:pic>
        <p:nvPicPr>
          <p:cNvPr id="5" name="Image 1" descr="/mnt/data/render_manus/png/page-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508760"/>
            <a:ext cx="3749040" cy="2103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412480" y="1508760"/>
            <a:ext cx="3154680" cy="2103120"/>
          </a:xfrm>
          <a:prstGeom prst="roundRect">
            <a:avLst>
              <a:gd name="adj" fmla="val 3478"/>
            </a:avLst>
          </a:prstGeom>
          <a:solidFill>
            <a:srgbClr val="11111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641080" y="17830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</a:rPr>
              <a:t>Gemini 3.1 Pro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641080" y="2240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D"/>
                </a:solidFill>
              </a:rPr>
              <a:t>비교 가능한 시각 산출물 부재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DEDED"/>
                </a:solidFill>
              </a:rPr>
              <a:t>→ 발표 디자인 평가 불가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3977640"/>
            <a:ext cx="10972800" cy="1508760"/>
          </a:xfrm>
          <a:prstGeom prst="roundRect">
            <a:avLst>
              <a:gd name="adj" fmla="val 4848"/>
            </a:avLst>
          </a:prstGeom>
          <a:solidFill>
            <a:srgbClr val="11111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68680" y="418795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</a:rPr>
              <a:t>관찰 포인트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68680" y="4480560"/>
            <a:ext cx="102412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DEDED"/>
                </a:solidFill>
              </a:rPr>
              <a:t>GPT  정보 블록과 이미지 배치가 명확해 한 장당 주제가 빠르게 읽힘</a:t>
            </a:r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</a:rPr>
              <a:t>
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DEDED"/>
                </a:solidFill>
              </a:rPr>
              <a:t>Manus  정돈된 보고서 느낌은 있으나 텍스트 밀도가 높아 청중 시선 분산 가능성 큼</a:t>
            </a:r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</a:rPr>
              <a:t>
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DEDED"/>
                </a:solidFill>
              </a:rPr>
              <a:t>실전 발표용 기준에서는 “문서형 슬라이드”보다 “요점형 슬라이드”가 유리하며 GPT가 이 지점에서 우세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685800" y="126187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</a:rPr>
              <a:t>GPT sample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572000" y="12618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</a:rPr>
              <a:t>Manus sample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48640" y="6400800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8E8E"/>
                </a:solidFill>
              </a:rPr>
              <a:t>Source: uploaded deck renders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A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기준별 비교 매트릭스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</a:rPr>
              <a:t>어느 모델이 어떤 항목에서 강하고 약한지 한눈에 정리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691640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평가 항목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14600" y="1554480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87752" y="1691640"/>
            <a:ext cx="2825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GPT-5.4 Thinking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554480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59552" y="1691640"/>
            <a:ext cx="2825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Manus 1.6 일반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58200" y="1554480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31352" y="1691640"/>
            <a:ext cx="2825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Gemini 3.1 Pro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029968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2121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176272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프롬프트 이해·준수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14600" y="2029968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12121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24328" y="2176272"/>
            <a:ext cx="2752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A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15장·톤·발표용 요구를 가장 안정적으로 반영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0" y="2029968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12121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96128" y="2176272"/>
            <a:ext cx="2752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B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핵심 요구 반영했으나 일부 브랜드 혼입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458200" y="2029968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12121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67928" y="2176272"/>
            <a:ext cx="2752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PPT 미생성으로 핵심 요구 불충족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2121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255264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조사·정리 수준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14600" y="310896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12121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24328" y="3255264"/>
            <a:ext cx="2752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A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구성 흐름과 요점 분리가 우수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0" y="310896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12121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96128" y="3255264"/>
            <a:ext cx="2752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B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조사량은 있으나 정리보다 나열에 가까움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458200" y="310896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12121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67928" y="3255264"/>
            <a:ext cx="2752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C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텍스트 정리는 가능하나 결과물 부재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187952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2121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4334256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발표용 적합성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14600" y="4187952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12121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24328" y="4334256"/>
            <a:ext cx="2752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A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시각 요소와 정보 전달 균형 양호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0" y="4187952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12121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96128" y="4334256"/>
            <a:ext cx="2752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C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문서형 성격이 강해 발표 집중력 약함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458200" y="4187952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12121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67928" y="4334256"/>
            <a:ext cx="2752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F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발표자료 자체가 없음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266944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2121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5413248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비용 합리성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514600" y="5266944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12121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24328" y="5413248"/>
            <a:ext cx="2752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B+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월 $20 고정, 결과물 완성도 대비 양호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0" y="5266944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12121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96128" y="5413248"/>
            <a:ext cx="2752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B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작업 성공은 했지만 338 credits 사용·반복 수정 부담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458200" y="5266944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12121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67928" y="5413248"/>
            <a:ext cx="2752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C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DEDED"/>
                </a:solidFill>
              </a:rPr>
              <a:t>월 $19.99 고정이지만 이번 과업 결과는 미흡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48640" y="6400800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8E8E"/>
                </a:solidFill>
              </a:rPr>
              <a:t>Source: user-provided outputs, task notes, official pricing and model pages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A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비용 합리성 평가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</a:rPr>
              <a:t>실사용자는 “좋은 결과”와 함께 “수정 가능 비용”까지 본다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11111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15968" y="150876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11111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91856" y="150876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11111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830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</a:rPr>
              <a:t>GPT-5.4 Thinking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5"/>
                </a:solidFill>
              </a:rPr>
              <a:t>$20 / month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5F5F5"/>
                </a:solidFill>
              </a:rPr>
              <a:t>ChatGPT Plus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</a:rPr>
              <a:t>고정 구독형이라 반복 수정 비용 예측이 쉬움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44568" y="17830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</a:rPr>
              <a:t>Manus AI 1.6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44568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</a:rPr>
              <a:t>Credit-based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</a:rPr>
              <a:t>User case: 338 credits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44568" y="2834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</a:rPr>
              <a:t>성과는 있으나 수정 횟수에 따라 체감 비용이 빠르게 상승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</a:rPr>
              <a:t>Gemini 3.1 Pro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5"/>
                </a:solidFill>
              </a:rPr>
              <a:t>$19.99 / month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5F5F5"/>
                </a:solidFill>
              </a:rPr>
              <a:t>Google AI Pro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29600" y="2834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</a:rPr>
              <a:t>고정 구독형이지만 이번 과업에서는 결과물 미완성으로 효율 저하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10972800" cy="1554480"/>
          </a:xfrm>
          <a:prstGeom prst="roundRect">
            <a:avLst>
              <a:gd name="adj" fmla="val 4706"/>
            </a:avLst>
          </a:prstGeom>
          <a:solidFill>
            <a:srgbClr val="11111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224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</a:rPr>
              <a:t>비용 결론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4526280"/>
            <a:ext cx="102412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DEDED"/>
                </a:solidFill>
              </a:rPr>
              <a:t>예측 가능성만 보면 GPT와 Gemini가 유리하다</a:t>
            </a:r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</a:rPr>
              <a:t>
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DEDED"/>
                </a:solidFill>
              </a:rPr>
              <a:t>하지만 “결과물 완성도 ÷ 비용” 기준으로 보면 GPT가 가장 우수하다</a:t>
            </a:r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</a:rPr>
              <a:t>
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DEDED"/>
                </a:solidFill>
              </a:rPr>
              <a:t>Manus는 단발성 성공률은 좋지만 크레딧 구조 특성상 반복 수정과 재생성 단계에서 부담이 커질 수 있다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8E8E"/>
                </a:solidFill>
              </a:rPr>
              <a:t>Source: OpenAI pricing/help, Google AI plans, Manus official pricing/docs, user credit usage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A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용도별 추천 모델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</a:rPr>
              <a:t>최종 1위와 별개로 상황별 최적 선택지는 다를 수 있음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3429000" cy="3337560"/>
          </a:xfrm>
          <a:prstGeom prst="roundRect">
            <a:avLst>
              <a:gd name="adj" fmla="val 2192"/>
            </a:avLst>
          </a:prstGeom>
          <a:solidFill>
            <a:srgbClr val="11111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938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5F5"/>
                </a:solidFill>
              </a:rPr>
              <a:t>최종 우승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5F5F5"/>
                </a:solidFill>
              </a:rPr>
              <a:t>GPT-5.4 Thinking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32688" y="26974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ED"/>
                </a:solidFill>
              </a:rPr>
              <a:t>가장 균형 잡힌 PPT 생성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DEDED"/>
                </a:solidFill>
              </a:rPr>
              <a:t>발표용 시각 완성도 우세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DEDED"/>
                </a:solidFill>
              </a:rPr>
              <a:t>고정 요금제로 반복 수정에도 유리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1691640"/>
            <a:ext cx="3429000" cy="3337560"/>
          </a:xfrm>
          <a:prstGeom prst="roundRect">
            <a:avLst>
              <a:gd name="adj" fmla="val 2192"/>
            </a:avLst>
          </a:prstGeom>
          <a:solidFill>
            <a:srgbClr val="11111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81728" y="1938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5F5"/>
                </a:solidFill>
              </a:rPr>
              <a:t>차선책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5F5F5"/>
                </a:solidFill>
              </a:rPr>
              <a:t>Manus AI 1.6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681728" y="26974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ED"/>
                </a:solidFill>
              </a:rPr>
              <a:t>빠른 초안 제작에는 적합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DEDED"/>
                </a:solidFill>
              </a:rPr>
              <a:t>문서형 보고서 스타일 선호 시 활용 가능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DEDED"/>
                </a:solidFill>
              </a:rPr>
              <a:t>다만 발표용 재디자인 권장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691640"/>
            <a:ext cx="3429000" cy="3337560"/>
          </a:xfrm>
          <a:prstGeom prst="roundRect">
            <a:avLst>
              <a:gd name="adj" fmla="val 2192"/>
            </a:avLst>
          </a:prstGeom>
          <a:solidFill>
            <a:srgbClr val="11111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30768" y="1938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5F5"/>
                </a:solidFill>
              </a:rPr>
              <a:t>비추천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5F5F5"/>
                </a:solidFill>
              </a:rPr>
              <a:t>Gemini 3.1 Pro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430768" y="26974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ED"/>
                </a:solidFill>
              </a:rPr>
              <a:t>이번 테스트 범위에서는 PPT 제작 도구로 미흡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DEDED"/>
                </a:solidFill>
              </a:rPr>
              <a:t>텍스트 조사 보조용으로만 고려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5394960"/>
            <a:ext cx="10927080" cy="566928"/>
          </a:xfrm>
          <a:prstGeom prst="roundRect">
            <a:avLst>
              <a:gd name="adj" fmla="val 12903"/>
            </a:avLst>
          </a:prstGeom>
          <a:solidFill>
            <a:srgbClr val="11111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596128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8B8"/>
                </a:solidFill>
              </a:rPr>
              <a:t>실무 제안  초안 1차 생성은 GPT로, 필요 시 특정 정보 보강만 별도 모델로 병행하는 방식이 가장 안정적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8E8E"/>
                </a:solidFill>
              </a:rPr>
              <a:t>Source: user-provided outputs, task notes, official pricing and model pages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A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최종 랭킹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</a:rPr>
              <a:t>동일 과업에서의 실제 발표자료 제작 적합성 기준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77240" y="1554480"/>
          <a:ext cx="5852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86600" y="1783080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11111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0" y="20299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5"/>
                </a:solidFill>
              </a:rPr>
              <a:t>1위  GPT-5.4 Thinking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315200" y="23957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</a:rPr>
              <a:t>발표자료 완성도와 비용 효율의 균형이 가장 좋음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086600" y="3154680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11111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0" y="34015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5"/>
                </a:solidFill>
              </a:rPr>
              <a:t>2위  Manus AI 1.6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315200" y="37673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</a:rPr>
              <a:t>속도는 강점이나 발표형 슬라이드로는 추가 보정 필요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086600" y="4526280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11111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0" y="47731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5"/>
                </a:solidFill>
              </a:rPr>
              <a:t>3위  Gemini 3.1 Pro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315200" y="51389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</a:rPr>
              <a:t>이번 테스트에서는 PPT 생성 실패로 순위 경쟁 불가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48640" y="6400800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8E8E"/>
                </a:solidFill>
              </a:rPr>
              <a:t>Source: user-provided outputs, task notes, official pricing and model pages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A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임원 보고용 한 장 요약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</a:rPr>
              <a:t>의사결정만 필요한 상황을 위한 condensed slide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972800" cy="3291840"/>
          </a:xfrm>
          <a:prstGeom prst="roundRect">
            <a:avLst>
              <a:gd name="adj" fmla="val 2222"/>
            </a:avLst>
          </a:prstGeom>
          <a:solidFill>
            <a:srgbClr val="11111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470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</a:rPr>
              <a:t>결론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0" y="1810512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</a:rPr>
              <a:t>이번 과업에서 가장 PPT 제작에 적합한 모델은 GPT-5.4 Thinking으로 판단됩니다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2423160"/>
            <a:ext cx="99669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EDEDED"/>
                </a:solidFill>
              </a:rPr>
              <a:t>GPT는 요구사항 준수, 조사 구조화, 발표용 디자인, 비용 예측성의 균형이 가장 좋았음</a:t>
            </a:r>
            <a:pPr indent="0" marL="0">
              <a:buNone/>
            </a:pPr>
            <a:r>
              <a:rPr lang="en-US" sz="1300" dirty="0">
                <a:solidFill>
                  <a:srgbClr val="EDEDED"/>
                </a:solidFill>
              </a:rPr>
              <a:t>
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EDEDED"/>
                </a:solidFill>
              </a:rPr>
              <a:t>Manus는 생성 속도는 빠르지만 결과물이 문서형에 가까워 발표 슬라이드 관점에서 한 단계 낮음</a:t>
            </a:r>
            <a:pPr indent="0" marL="0">
              <a:buNone/>
            </a:pPr>
            <a:r>
              <a:rPr lang="en-US" sz="1300" dirty="0">
                <a:solidFill>
                  <a:srgbClr val="EDEDED"/>
                </a:solidFill>
              </a:rPr>
              <a:t>
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EDEDED"/>
                </a:solidFill>
              </a:rPr>
              <a:t>Gemini는 모델 자체 역량과 무관하게 이번 테스트에서는 사용자의 핵심 목적을 달성하지 못했음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3886200"/>
            <a:ext cx="996696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40690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</a:rPr>
              <a:t>실행 권고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83080" y="405079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DED"/>
                </a:solidFill>
              </a:rPr>
              <a:t>발표용 초안은 GPT로 생성하고, 최종 발표 직전에는 사실 검증과 텍스트 다이어트를 별도 점검하는 워크플로를 권장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8E8E"/>
                </a:solidFill>
              </a:rPr>
              <a:t>Source: user-provided outputs, task notes, official pricing and model pages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A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평가 근거 및 참고 소스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</a:rPr>
              <a:t>업로드 파일, 사용자 메모, 공식 가격/모델 페이지 기준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394960" cy="4251960"/>
          </a:xfrm>
          <a:prstGeom prst="roundRect">
            <a:avLst>
              <a:gd name="adj" fmla="val 1720"/>
            </a:avLst>
          </a:prstGeom>
          <a:solidFill>
            <a:srgbClr val="11111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556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</a:rPr>
              <a:t>사용자 제공 근거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084832"/>
            <a:ext cx="47091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DEDED"/>
                </a:solidFill>
              </a:rPr>
              <a:t>Ai 동향 및 트랜드_Gpt 5.4 Thinking.pptx</a:t>
            </a:r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</a:rPr>
              <a:t>
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DEDED"/>
                </a:solidFill>
              </a:rPr>
              <a:t>Ai 동향 및 트랜드_Manus 1.6.pptx</a:t>
            </a:r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</a:rPr>
              <a:t>
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DEDED"/>
                </a:solidFill>
              </a:rPr>
              <a:t>생성 시간, 생성 실패 여부, 크레딧 사용량에 대한 사용자 메모</a:t>
            </a:r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</a:rPr>
              <a:t>
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DEDED"/>
                </a:solidFill>
              </a:rPr>
              <a:t>Gemini는 PPT 파일 미첨부 상태에서 사용자 진술 기반 평가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8680" y="3886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</a:rPr>
              <a:t>공식 웹 소스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4206240"/>
            <a:ext cx="45720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DEDED"/>
                </a:solidFill>
              </a:rPr>
              <a:t>OpenAI ChatGPT Plus pricing / help</a:t>
            </a:r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</a:rPr>
              <a:t>
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DEDED"/>
                </a:solidFill>
              </a:rPr>
              <a:t>Google AI Pro pricing and Gemini 3.1 Pro model card</a:t>
            </a:r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</a:rPr>
              <a:t>
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DEDED"/>
                </a:solidFill>
              </a:rPr>
              <a:t>Manus official pricing and plans documentation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50876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11111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556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</a:rPr>
              <a:t>해석상 유의점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084832"/>
            <a:ext cx="466344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DEDED"/>
                </a:solidFill>
              </a:rPr>
              <a:t>이 평가는 범용 모델 성능 전체가 아니라 “이번 PPT 생성 과업”에 한정됨</a:t>
            </a:r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</a:rPr>
              <a:t>
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DEDED"/>
                </a:solidFill>
              </a:rPr>
              <a:t>생성형 모델은 시점에 따라 품질 편차가 존재하므로 재실험 시 결과가 달라질 수 있음</a:t>
            </a:r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</a:rPr>
              <a:t>
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DEDED"/>
                </a:solidFill>
              </a:rPr>
              <a:t>Gemini는 산출물 부재로 인해 상대적으로 보수적 평가가 적용됨</a:t>
            </a:r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</a:rPr>
              <a:t>
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EDEDED"/>
                </a:solidFill>
              </a:rPr>
              <a:t>모든 발표자료는 실제 사용 전 숫자와 출처를 재검증하는 것이 바람직함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8E8E"/>
                </a:solidFill>
              </a:rPr>
              <a:t>Source: user-provided outputs, task notes, official pricing and model pages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A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1732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5"/>
                </a:solidFill>
              </a:rPr>
              <a:t>AI로 PPT를 만드는 시대에도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5F5F5"/>
                </a:solidFill>
              </a:rPr>
              <a:t>최종 승부는 “산출물의 완성도”에서 갈립니다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8B8"/>
                </a:solidFill>
              </a:rPr>
              <a:t>Final Verdict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299923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</a:rPr>
              <a:t>Best fit for presentation deck generation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</a:rPr>
              <a:t>GPT-5.4 Thinking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818120" y="1188720"/>
            <a:ext cx="2926080" cy="4206240"/>
          </a:xfrm>
          <a:prstGeom prst="roundRect">
            <a:avLst>
              <a:gd name="adj" fmla="val 2500"/>
            </a:avLst>
          </a:prstGeom>
          <a:solidFill>
            <a:srgbClr val="111111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2440" y="1508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8B8"/>
                </a:solidFill>
              </a:rPr>
              <a:t>RANKING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92440" y="18745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</a:rPr>
              <a:t>1  GPT-5.4 Thinking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</a:rPr>
              <a:t>2  Manus AI 1.6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</a:rPr>
              <a:t>3  Gemini 3.1 Pro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92440" y="32461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D"/>
                </a:solidFill>
              </a:rPr>
              <a:t>핵심 메시지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DEDED"/>
                </a:solidFill>
              </a:rPr>
              <a:t>좋은 AI는 답을 많이 쓰는 모델이 아니라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DEDED"/>
                </a:solidFill>
              </a:rPr>
              <a:t>발표 현장에서 바로 써먹을 수 있는 결과를 내는 모델이다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0" y="61264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</a:rPr>
              <a:t>THANK YOU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400800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8E8E"/>
                </a:solidFill>
              </a:rPr>
              <a:t>Source: consolidated evaluation from uploaded outputs and official plan/model pages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A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PPT 제작 능력 비교 평가 보고서</dc:title>
  <dc:subject>AI PPT 제작 능력 비교 평가</dc:subject>
  <dc:creator>OpenAI</dc:creator>
  <cp:lastModifiedBy>OpenAI</cp:lastModifiedBy>
  <cp:revision>1</cp:revision>
  <dcterms:created xsi:type="dcterms:W3CDTF">2026-04-23T20:29:02Z</dcterms:created>
  <dcterms:modified xsi:type="dcterms:W3CDTF">2026-04-23T20:29:02Z</dcterms:modified>
</cp:coreProperties>
</file>